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502920"/>
            <a:ext cx="2377440" cy="329184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Be Vietnam Pro"/>
              </a:defRPr>
            </a:pPr>
            <a:r>
              <a:t>BUỔI 1  ·  NỀN TẢNG  ·  90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defRPr sz="3200" b="1" i="0">
                <a:solidFill>
                  <a:srgbClr val="FFFFFF"/>
                </a:solidFill>
                <a:latin typeface="Be Vietnam Pro"/>
              </a:defRPr>
            </a:pPr>
            <a:r>
              <a:t>AI cho công việc văn phòng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93C5FD"/>
                </a:solidFill>
                <a:latin typeface="Inter"/>
              </a:defRPr>
            </a:pPr>
            <a:r>
              <a:t>Buổi 1  ·  Nền tảng  —  ChatGPT &amp; Gemini cho người mới bắt đầu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71800"/>
            <a:ext cx="6217920" cy="13258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600"/>
              </a:spcBef>
              <a:spcAft>
                <a:spcPts val="200"/>
              </a:spcAft>
              <a:defRPr sz="750" b="1">
                <a:solidFill>
                  <a:srgbClr val="0F233A"/>
                </a:solidFill>
                <a:latin typeface="Inter"/>
              </a:defRPr>
            </a:pPr>
            <a:r>
              <a:t>Tài liệu lưu hành nội bộ  ·  v2.0 — 09/2026  ·  Đã qua audit nguồn chính thức + pháp luật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50">
                <a:solidFill>
                  <a:srgbClr val="334155"/>
                </a:solidFill>
                <a:latin typeface="Inter"/>
              </a:defRPr>
            </a:pPr>
            <a:r>
              <a:t>Chủ sở hữu: Ban Hành chính &amp; Chuyển đổi số  ·  Review: 12/2026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defRPr sz="750">
                <a:solidFill>
                  <a:srgbClr val="334155"/>
                </a:solidFill>
                <a:latin typeface="Inter"/>
              </a:defRPr>
            </a:pPr>
            <a:r>
              <a:t>Đối tượng: toàn văn phòng  ·  Tài khoản cá nhân — trọng tâm an toàn dữ liệu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97112" y="1005840"/>
            <a:ext cx="2743200" cy="3291840"/>
          </a:xfrm>
          <a:prstGeom prst="roundRect">
            <a:avLst>
              <a:gd name="adj" fmla="val 8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97112" y="21945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93C5FD"/>
                </a:solidFill>
                <a:latin typeface="Be Vietnam Pro"/>
              </a:defRPr>
            </a:pPr>
            <a:r>
              <a:t>AI  ·  ChatGPT  ·  Gemini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94A3B8"/>
                </a:solidFill>
                <a:latin typeface="Inter"/>
              </a:defRPr>
            </a:pPr>
            <a:r>
              <a:t>Dùng nhanh hơn  ·  Nhàn hơn  ·  An toàn hơn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Vì sao học AI ngay bây giờ?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Nguồn số liệu: xem slide cuối buổi (nguồn chính thức). Không bịa con số trên slide.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624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Nhân viên văn phòng VN đã dùng AI với tỷ lệ cao hơn trung bình toàn cầu — cơ hội ngay trước mắt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928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Nhưng rất ít doanh nghiệp tin AI tuyệt đối mà không cần người kiểm tra — vẫn cần bạn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231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Người biết dùng AI làm nhanh hơn người không biết — đó là lý do có buổi học hôm nay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02 / 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"AI có lấy mất việc của tôi không?"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486400" cy="201168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F4444"/>
                </a:solidFill>
                <a:latin typeface="Be Vietnam Pro"/>
              </a:defRPr>
            </a:pPr>
            <a:r>
              <a:t>AI LẤY — phần việc lặp lại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Soạn nháp, tóm tắt, gợi ý, tìm nhanh,</a:t>
            </a:r>
            <a:br/>
            <a:r>
              <a:t>định dạng lại văn bản, gợi ý tiêu đề…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051560"/>
            <a:ext cx="5486400" cy="2011680"/>
          </a:xfrm>
          <a:prstGeom prst="roundRect">
            <a:avLst>
              <a:gd name="adj" fmla="val 7000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12344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6A34A"/>
                </a:solidFill>
                <a:latin typeface="Be Vietnam Pro"/>
              </a:defRPr>
            </a:pPr>
            <a:r>
              <a:t>AI KHÔNG LẤY — phần cần con người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36792" y="160020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Phán đoán, chịu trách nhiệm, hiểu ngữ cảnh</a:t>
            </a:r>
            <a:br/>
            <a:r>
              <a:t>công ty, quyết định nhân sự/tài chính…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83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64748B"/>
                </a:solidFill>
                <a:latin typeface="Inter"/>
              </a:defRPr>
            </a:pPr>
            <a:r>
              <a:t>Cam kết của công ty:  [ điền nội dung lãnh đạo duyệt ]  ·  Hỏi lo lắng của bạn ngay bây giờ — 2 phút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03 / 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2563EB"/>
                </a:solidFill>
                <a:latin typeface="Be Vietnam Pro"/>
              </a:defRPr>
            </a:pPr>
            <a:r>
              <a:t>PHẦN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233A"/>
                </a:solidFill>
                <a:latin typeface="Be Vietnam Pro"/>
              </a:defRPr>
            </a:pPr>
            <a:r>
              <a:t>Hiểu đúng về AI trước khi dùng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Inter"/>
              </a:defRPr>
            </a:pPr>
            <a:r>
              <a:t>18 phút  ·  Kể chuyện, không kỹ thuật  ·  Biết AI giỏi gì / dở gì / bịa ra sao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AI tạo sinh là gì?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338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AI như "thực tập sinh đọc nhiều, gõ nhanh, nhưng chưa có kinh nghiệm ở công ty mình"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Đã đọc lượng văn bản khổng lồ trên internet → học cách đoán chữ tiếp theo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Trả lời nghe tự nhiên, nhưng không "hiểu" như con người — chỉ giỏi bắt chước mẫu câu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05 /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ChatGPT vs Gemini — hai trợ lý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Dùng cả hai — soạn bằng ChatGPT, kiểm chứng bằng Gemini  ·  Demo: mở cả hai trang cạnh nhau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56916.0" y="1188720"/>
          <a:ext cx="6675120" cy="1883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743200"/>
                <a:gridCol w="2743200"/>
              </a:tblGrid>
              <a:tr h="3767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Tiêu chí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ChatGPT (chatgpt.com)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Gemini (gemini.google.com)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Điểm mạnh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Viết lách mượt, suy luận chặt,</a:t>
                      </a:r>
                      <a:br/>
                      <a:r>
                        <a:t>làm việc tốt với file tải lên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Tìm kiếm mới trên Google, tóm tắt</a:t>
                      </a:r>
                      <a:br/>
                      <a:r>
                        <a:t>video YouTube, Gmail/Drive/Docs</a:t>
                      </a:r>
                    </a:p>
                  </a:txBody>
                  <a:tcPr anchor="ctr" marT="38100" marB="38100" marL="76200" marR="76200"/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Tạo ảnh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Dòng GPT Image (gpt-image-1/1.5/2)</a:t>
                      </a:r>
                      <a:br/>
                      <a:r>
                        <a:t>kế nhiệm DALL·E — sửa bằng lời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Nano Banana (native Gemini);</a:t>
                      </a:r>
                      <a:br/>
                      <a:r>
                        <a:t>Imagen là dòng trên Vertex AI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  <a:tr h="37673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Ghi nhớ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Memory — nhớ sở thích, cách xưng hô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Gems — trợ lý chuyên biệt cho tác vụ lặp</a:t>
                      </a:r>
                    </a:p>
                  </a:txBody>
                  <a:tcPr anchor="ctr" marT="38100" marB="38100" marL="76200" marR="76200"/>
                </a:tc>
              </a:tr>
              <a:tr h="376736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Khi nào dùng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Soạn email, báo cáo, biên bản,</a:t>
                      </a:r>
                      <a:br/>
                      <a:r>
                        <a:t>phân tích số liệu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Tìm thông tin mới, kiểm tra giá,</a:t>
                      </a:r>
                      <a:br/>
                      <a:r>
                        <a:t>tóm tắt tài liệu dài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06 /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AI giỏi gì?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2567178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2567178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22379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Soạn thảo</a:t>
            </a:r>
            <a:br/>
            <a:r>
              <a:t>&amp; biên tập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22928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Email, báo cáo,</a:t>
            </a:r>
            <a:br/>
            <a:r>
              <a:t>thông báo, công văn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1188720"/>
            <a:ext cx="2567178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90138" y="1188720"/>
            <a:ext cx="2567178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54730" y="1389888"/>
            <a:ext cx="22379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Tóm tắt</a:t>
            </a:r>
            <a:br/>
            <a:r>
              <a:t>&amp; dịch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7298" y="1755648"/>
            <a:ext cx="22928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Biên bản họp,</a:t>
            </a:r>
            <a:br/>
            <a:r>
              <a:t>tài liệu dài, đa ngôn ngữ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1188720"/>
            <a:ext cx="2567178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1636" y="1188720"/>
            <a:ext cx="2567178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6228" y="1389888"/>
            <a:ext cx="22379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Gợi ý</a:t>
            </a:r>
            <a:br/>
            <a:r>
              <a:t>ý tưởng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8796" y="1755648"/>
            <a:ext cx="22928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Dàn ý, tiêu đề,</a:t>
            </a:r>
            <a:br/>
            <a:r>
              <a:t>kịch bản, caption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3134" y="1188720"/>
            <a:ext cx="2567178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73134" y="1188720"/>
            <a:ext cx="2567178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7726" y="1389888"/>
            <a:ext cx="223799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Tạo ảnh</a:t>
            </a:r>
            <a:br/>
            <a:r>
              <a:t>minh họa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0294" y="1755648"/>
            <a:ext cx="2292858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Ảnh sản phẩm, nền slide,</a:t>
            </a:r>
            <a:br/>
            <a:r>
              <a:t>infographic, mockup nội bộ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07 / 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Be Vietnam Pro"/>
              </a:defRPr>
            </a:pPr>
            <a:r>
              <a:t>AI dở gì?  —  4 cảnh báo quan trọng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91672" cy="475488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088136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F4444"/>
                </a:solidFill>
                <a:latin typeface="Inter"/>
              </a:defRPr>
            </a:pPr>
            <a: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F4444"/>
                </a:solidFill>
                <a:latin typeface="Be Vietnam Pro"/>
              </a:defRPr>
            </a:pPr>
            <a:r>
              <a:t>Bịa số liệu / điều luật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124712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Hỏi "Nghị định 123 nói gì?" → AI tự chế điều khoản rất thuyết phục nhưng không tồn tại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18488"/>
            <a:ext cx="11091672" cy="475488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55064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F4444"/>
                </a:solidFill>
                <a:latin typeface="Inter"/>
              </a:defRPr>
            </a:pPr>
            <a:r>
              <a:t>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66420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F4444"/>
                </a:solidFill>
                <a:latin typeface="Be Vietnam Pro"/>
              </a:defRPr>
            </a:pPr>
            <a:r>
              <a:t>Không biết chuyện nội bộ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1691640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AI không tự biết quy trình kho / quy định riêng của An Bình Foods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85416"/>
            <a:ext cx="11091672" cy="475488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21992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F4444"/>
                </a:solidFill>
                <a:latin typeface="Inter"/>
              </a:defRPr>
            </a:pPr>
            <a:r>
              <a:t>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3113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F4444"/>
                </a:solidFill>
                <a:latin typeface="Be Vietnam Pro"/>
              </a:defRPr>
            </a:pPr>
            <a:r>
              <a:t>Tính toán đôi khi sai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258568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Phép tính dài, đơn vị đo, quy đổi tiền tệ — luôn kiểm lại bằng máy tính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752344"/>
            <a:ext cx="11091672" cy="475488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788920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EF4444"/>
                </a:solidFill>
                <a:latin typeface="Inter"/>
              </a:defRPr>
            </a:pPr>
            <a:r>
              <a:t>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79806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EF4444"/>
                </a:solidFill>
                <a:latin typeface="Be Vietnam Pro"/>
              </a:defRPr>
            </a:pPr>
            <a:r>
              <a:t>Kiến thức có độ trễ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825496"/>
            <a:ext cx="8321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Dù có tìm trên mạng, kết quả vẫn có thể lỗi thời hoặc sai nguồn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08 / 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Demo live — Prompt dở vs Prompt tốt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5486400" cy="4754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5486400" cy="347472"/>
          </a:xfrm>
          <a:prstGeom prst="roundRect">
            <a:avLst>
              <a:gd name="adj" fmla="val 8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Be Vietnam Pro"/>
              </a:defRPr>
            </a:pPr>
            <a:r>
              <a:t>PROMPT DỞ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"Viết giúp tôi email</a:t>
            </a:r>
            <a:br/>
            <a:r>
              <a:t>gửi khách hàng."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671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Thiếu: khách nào? việc gì?</a:t>
            </a:r>
            <a:br/>
            <a:r>
              <a:t>giọng ra sao? bao nhiêu chữ?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→ Kết quả chung chung,</a:t>
            </a:r>
            <a:br/>
            <a:r>
              <a:t>phải sửa nhiều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051560"/>
            <a:ext cx="5486400" cy="47548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53912" y="1051560"/>
            <a:ext cx="5486400" cy="347472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53912" y="105156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  <a:latin typeface="Be Vietnam Pro"/>
              </a:defRPr>
            </a:pPr>
            <a:r>
              <a:t>PROMPT TỐT 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"Bạn là NVKD. Soạn email cho</a:t>
            </a:r>
            <a:br/>
            <a:r>
              <a:t>siêu thị TP.HCM về giao chậm</a:t>
            </a:r>
            <a:br/>
            <a:r>
              <a:t>2 ngày do mưa bão, giọng chân</a:t>
            </a:r>
            <a:br/>
            <a:r>
              <a:t>thành, bù 5% đơn sau, 150 chữ,</a:t>
            </a:r>
            <a:br/>
            <a:r>
              <a:t>có tiêu đề + chữ ký."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216712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Đủ: vai trò, bối cảnh, nhiệm vụ,</a:t>
            </a:r>
            <a:br/>
            <a:r>
              <a:t>ràng buộc, định dạng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73405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→ Kết quả dùng được ngay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09 / 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16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00"/>
              </a:lnSpc>
              <a:defRPr sz="2600" b="1" i="0">
                <a:solidFill>
                  <a:srgbClr val="FFFFFF"/>
                </a:solidFill>
                <a:latin typeface="Be Vietnam Pro"/>
              </a:defRPr>
            </a:pPr>
            <a:r>
              <a:t>"AI là người soạn nháp — Bạn là người ký duyệt"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3C5FD"/>
                </a:solidFill>
                <a:latin typeface="Inter"/>
              </a:defRPr>
            </a:pPr>
            <a:r>
              <a:t>Mọi con số, tên người, điều luật do AI đưa ra — kiểm lại trước khi gửi  ·  Hỏi cả lớp: "Ai từng thấy AI trả lời sai?"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10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2563EB"/>
                </a:solidFill>
                <a:latin typeface="Be Vietnam Pro"/>
              </a:defRPr>
            </a:pPr>
            <a:r>
              <a:t>PHẦN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233A"/>
                </a:solidFill>
                <a:latin typeface="Be Vietnam Pro"/>
              </a:defRPr>
            </a:pPr>
            <a:r>
              <a:t>Cách hỏi để AI trả lời hay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Inter"/>
              </a:defRPr>
            </a:pPr>
            <a:r>
              <a:t>35 phút  ·  Trọng tâm của Buổi 1  ·  Công thức 5 thành tố + 4 kỹ thuật + 3 câu thần chú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1645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3 câu hỏi trước khi gõ  —  30 giây tư duy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5408676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408676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89888"/>
            <a:ext cx="50794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1. AI làm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51343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Động từ rõ ràng:</a:t>
            </a:r>
            <a:br/>
            <a:r>
              <a:t>soạn, tóm tắt, biên tập,</a:t>
            </a:r>
            <a:br/>
            <a:r>
              <a:t>gợi ý, dịch, tạo ảnh…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188720"/>
            <a:ext cx="5408676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1636" y="1188720"/>
            <a:ext cx="5408676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6228" y="1389888"/>
            <a:ext cx="50794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2. Ai đọc kết quả?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8796" y="1755648"/>
            <a:ext cx="51343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Sếp, khách hàng,</a:t>
            </a:r>
            <a:br/>
            <a:r>
              <a:t>đồng nghiệp, đăng Facebook</a:t>
            </a:r>
            <a:br/>
            <a:r>
              <a:t>— mỗi đối tượng cần giọng khác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408676" cy="173736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3200400"/>
            <a:ext cx="5408676" cy="3657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401568"/>
            <a:ext cx="50794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3. Kết quả thế nào</a:t>
            </a:r>
            <a:br/>
            <a:r>
              <a:t>là đạt?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67328"/>
            <a:ext cx="5134356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Độ dài, định dạng,</a:t>
            </a:r>
            <a:br/>
            <a:r>
              <a:t>giọng văn, deadline</a:t>
            </a:r>
            <a:br/>
            <a:r>
              <a:t>— càng cụ thể càng ít sửa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12 / 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Công thức 5 thành tố  —  kiểm tra trước khi gửi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07203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051560"/>
            <a:ext cx="2072030" cy="5486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20063" y="1207008"/>
            <a:ext cx="329184" cy="329184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20063" y="12070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Be Vietnam Pro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18891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VAI TRÒ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011680"/>
            <a:ext cx="192572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AI đóng vai ai?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3550" y="1051560"/>
            <a:ext cx="207203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03550" y="1051560"/>
            <a:ext cx="2072030" cy="54864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74973" y="1207008"/>
            <a:ext cx="329184" cy="329184"/>
          </a:xfrm>
          <a:prstGeom prst="roundRect">
            <a:avLst>
              <a:gd name="adj" fmla="val 7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4973" y="12070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Be Vietnam Pro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4990" y="1645920"/>
            <a:ext cx="18891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BỐI CẢNH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6702" y="2011680"/>
            <a:ext cx="192572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Việc gì, cho ai, vì sao?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8460" y="1051560"/>
            <a:ext cx="207203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58460" y="1051560"/>
            <a:ext cx="2072030" cy="54864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29884" y="1207008"/>
            <a:ext cx="329184" cy="329184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29884" y="12070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Be Vietnam Pro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9900" y="1645920"/>
            <a:ext cx="18891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NHIỆM VỤ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1612" y="2011680"/>
            <a:ext cx="192572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Làm gì — động từ rõ ràng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3371" y="1051560"/>
            <a:ext cx="207203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3371" y="1051560"/>
            <a:ext cx="2072030" cy="54864"/>
          </a:xfrm>
          <a:prstGeom prst="roundRect">
            <a:avLst>
              <a:gd name="adj" fmla="val 8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4794" y="1207008"/>
            <a:ext cx="329184" cy="329184"/>
          </a:xfrm>
          <a:prstGeom prst="roundRect">
            <a:avLst>
              <a:gd name="adj" fmla="val 7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4794" y="12070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Be Vietnam Pro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4811" y="1645920"/>
            <a:ext cx="18891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RÀNG BUỘC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6523" y="2011680"/>
            <a:ext cx="192572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Bao nhiêu chữ, giọng gì, không làm gì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8281" y="1051560"/>
            <a:ext cx="2072030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68281" y="1051560"/>
            <a:ext cx="2072030" cy="54864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439704" y="1207008"/>
            <a:ext cx="329184" cy="329184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39704" y="12070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Be Vietnam Pro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59721" y="1645920"/>
            <a:ext cx="188915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ĐỊNH DẠNG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1433" y="2011680"/>
            <a:ext cx="192572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Trả về dạng gì: email, bảng, bullet…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13 / 34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5 thành tố đến từ đâu?  —  Minh bạch nguồn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05840"/>
            <a:ext cx="5623560" cy="2194560"/>
          </a:xfrm>
          <a:prstGeom prst="roundRect">
            <a:avLst>
              <a:gd name="adj" fmla="val 7000"/>
            </a:avLst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155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1D4ED8"/>
                </a:solidFill>
                <a:latin typeface="Be Vietnam Pro"/>
              </a:defRPr>
            </a:pPr>
            <a:r>
              <a:t>OpenAI thực sự nói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Goal / Context / Output / Boundaries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Và dặn: "Use only the parts that help"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0253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— không phải lúc nào cũng cần đủ 4 phần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95144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Google: đặt role/persona &amp; format ở vị trí ưu tiên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16752" y="1005840"/>
            <a:ext cx="5623560" cy="219456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1155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F59E0B"/>
                </a:solidFill>
                <a:latin typeface="Be Vietnam Pro"/>
              </a:defRPr>
            </a:pPr>
            <a:r>
              <a:t>An Bình Foods làm gì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417320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Gộp thành 5 ô cho dễ nhớ, dễ dạy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1709928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Đây là QUY ƯỚC NỘI BỘ — không phải chuẩn hãng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2" y="200253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RTF / CO-STAR / CRISPE = framework cộng đồng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295144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— hữu ích nhưng không phải chuẩn OpenAI/Google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42900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94A3B8"/>
                </a:solidFill>
                <a:latin typeface="Inter"/>
              </a:defRPr>
            </a:pPr>
            <a:r>
              <a:t>Không đặt logo OpenAI/Google cạnh sơ đồ 5 ô — tránh tạo cảm giác đây là chuẩn của hãng.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14 / 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Ví dụ đủ 5 thành tố — soạn công văn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Mỗi màu = 1 thành tố  ·  Chiếu kết quả AI trả về ngay sau đó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07592"/>
            <a:ext cx="1051560" cy="237744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07592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Be Vietnam Pro"/>
              </a:defRPr>
            </a:pPr>
            <a:r>
              <a:t>VAI TRÒ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23444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Bạn là trợ lý hành chính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37944"/>
            <a:ext cx="1051560" cy="237744"/>
          </a:xfrm>
          <a:prstGeom prst="roundRect">
            <a:avLst>
              <a:gd name="adj" fmla="val 7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37944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Be Vietnam Pro"/>
              </a:defRPr>
            </a:pPr>
            <a:r>
              <a:t>BỐI CẢNH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764792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của công ty thực phẩm 200 nhân sự tại Gia Lai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68296"/>
            <a:ext cx="1051560" cy="237744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68296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Be Vietnam Pro"/>
              </a:defRPr>
            </a:pPr>
            <a:r>
              <a:t>NHIỆM VỤ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295144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Hãy soạn công văn gửi NCC bao bì về việc đề nghị báo giá 5.000 túi zip 200g, giao trước 30/09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898647"/>
            <a:ext cx="1051560" cy="237744"/>
          </a:xfrm>
          <a:prstGeom prst="roundRect">
            <a:avLst>
              <a:gd name="adj" fmla="val 7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898647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Be Vietnam Pro"/>
              </a:defRPr>
            </a:pPr>
            <a:r>
              <a:t>RÀNG BUỘC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825495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Văn phong trang trọng, ngắn gọn, dưới 250 chữ, xưng "Công ty chúng tôi"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29000"/>
            <a:ext cx="1051560" cy="237744"/>
          </a:xfrm>
          <a:prstGeom prst="roundRect">
            <a:avLst>
              <a:gd name="adj" fmla="val 7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429000"/>
            <a:ext cx="10515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 i="0">
                <a:solidFill>
                  <a:srgbClr val="FFFFFF"/>
                </a:solidFill>
                <a:latin typeface="Be Vietnam Pro"/>
              </a:defRPr>
            </a:pPr>
            <a:r>
              <a:t>ĐỊNH DẠNG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355848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Trả về dạng công văn có tiêu đề, kính gửi, nội dung, kết thúc và chỗ ký tên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15 / 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Kỹ thuật 1 — Đóng vai  (Role)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Demo: gõ "Bạn là khách hàng khó tính..." — cho xem AI chê gắt ra sao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624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"Bạn là kế toán trưởng 10 năm kinh nghiệm, hãy rà soát email này xem thiếu chứng từ gì không."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928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"Bạn là khách hàng khó tính, hãy chê bài giới thiệu sản phẩm này thật gắt để tôi sửa."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231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"Bạn là giảng viên Excel, hãy giải thích VLOOKUP cho người mới bằng ví dụ bán hàng."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16 / 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Kỹ thuật 2 — Đưa ngữ cảnh &amp; tài liệu  (Context)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4124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Demo: tải biên bản mẫu 2 trang, cho AI tóm tắt live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13624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Tải file Word / Excel / PDF lên rồi nói: "Dựa vào file biên bản đính kèm, hãy tóm tắt 5 quyết định chính"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928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647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Dán số liệu: "Dưới đây là doanh số 6 tháng của 3 dòng [dán bảng] — hãy nhận xét xu hướng"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231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951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Gemini: dán link Google Docs/Sheets — đọc trực tiếp  ·  ChatGPT: tải file lên là tiện nhất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17 / 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Kỹ thuật 3 — Cho ví dụ  (Few-shot)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338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Cho AI 1-2 ví dụ về kết quả bạn muốn — AI sẽ bắt chước rất sát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VD: dán 2 mô tả sản phẩm mẫu → "Viết theo phong cách này cho: Mít sấy giòn 100g, vị mật ong, không chiên dầu"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Như đưa văn mẫu cho thực tập sinh — càng cụ thể càng giống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18 /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Kỹ thuật 4 — Chia nhỏ &amp; lặp lại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Cả OpenAI và Google đều nói làm prompt là quá trình lặp lại (iterative)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635758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01927" y="1261872"/>
            <a:ext cx="329184" cy="329184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01927" y="12618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Be Vietnam Pro"/>
              </a:defRPr>
            </a:pPr>
            <a:r>
              <a:t>B1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24528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Viết nháp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24528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Gửi prompt lần 1</a:t>
            </a:r>
            <a:br/>
            <a:r>
              <a:t>→ xem kết quả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2686" y="17830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7278" y="1143000"/>
            <a:ext cx="2635758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0565" y="1261872"/>
            <a:ext cx="329184" cy="329184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0565" y="12618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Be Vietnam Pro"/>
              </a:defRPr>
            </a:pPr>
            <a:r>
              <a:t>B2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8718" y="1691640"/>
            <a:ext cx="24528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Rút gọn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8718" y="1965960"/>
            <a:ext cx="24528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"Giữ nguyên ý,</a:t>
            </a:r>
            <a:br/>
            <a:r>
              <a:t>ngắn hơn 30%,</a:t>
            </a:r>
            <a:br/>
            <a:r>
              <a:t>giọng trang trọng hơn"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21324" y="17830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143000"/>
            <a:ext cx="2635758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39203" y="1261872"/>
            <a:ext cx="329184" cy="329184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9203" y="12618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Be Vietnam Pro"/>
              </a:defRPr>
            </a:pPr>
            <a:r>
              <a:t>B3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7356" y="1691640"/>
            <a:ext cx="24528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Bổ sung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7356" y="1965960"/>
            <a:ext cx="24528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"Thêm bảng</a:t>
            </a:r>
            <a:br/>
            <a:r>
              <a:t>so sánh 3 phương án</a:t>
            </a:r>
            <a:br/>
            <a:r>
              <a:t>vào cuối"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39962" y="1783080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04554" y="1143000"/>
            <a:ext cx="2635758" cy="182880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157841" y="1261872"/>
            <a:ext cx="329184" cy="329184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57841" y="126187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Be Vietnam Pro"/>
              </a:defRPr>
            </a:pPr>
            <a:r>
              <a:t>B4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1691640"/>
            <a:ext cx="245287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Dịch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5994" y="1965960"/>
            <a:ext cx="245287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"Dịch toàn bộ</a:t>
            </a:r>
            <a:br/>
            <a:r>
              <a:t>sang tiếng Anh</a:t>
            </a:r>
            <a:br/>
            <a:r>
              <a:t>để gửi đối tác"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2461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1">
                <a:solidFill>
                  <a:srgbClr val="94A3B8"/>
                </a:solidFill>
                <a:latin typeface="Inter"/>
              </a:defRPr>
            </a:pPr>
            <a:r>
              <a:t>Ghi chú: con số "3 vòng" hay mốc "OpenAI đổi khuyến nghị từ 7/2026" là suy diễn lan truyền — không có trong tài liệu chính thức, đừng nhắc khi giảng.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11880"/>
            <a:ext cx="11091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1">
                <a:solidFill>
                  <a:srgbClr val="F59E0B"/>
                </a:solidFill>
                <a:latin typeface="Inter"/>
              </a:defRPr>
            </a:pPr>
            <a:r>
              <a:t>Demo: lấy kết quả slide trước, nói "Giữ nguyên ý, ngắn hơn 30%" — cho xem AI sửa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19 / 34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25912" y="347472"/>
            <a:ext cx="914400" cy="292608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5912" y="3474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Be Vietnam Pro"/>
              </a:defRPr>
            </a:pPr>
            <a:r>
              <a:t>8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Bài tập nhanh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11091672" cy="438912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864" cy="43891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344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Viết lại câu hỏi dở:</a:t>
            </a:r>
            <a:br/>
            <a:br/>
            <a:r>
              <a:t>     "Làm giúp cái báo cáo"</a:t>
            </a:r>
            <a:br/>
            <a:br/>
            <a:r>
              <a:t>thành prompt đủ 5 thành tố — rồi chấm chéo trong bàn.</a:t>
            </a:r>
            <a:br/>
            <a:br/>
            <a:r>
              <a:t>Gợi ý: Ai đọc báo cáo? Báo cáo về việc gì? Bao nhiêu chữ? Định dạng thế nào?</a:t>
            </a:r>
            <a:br/>
            <a:br/>
            <a:r>
              <a:t>Trợ giảng đi quanh hỗ trợ.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20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3 câu thần chú để AI tự kiểm 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Dán 1 trong 3 câu này vào cuối mọi prompt quan trọng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3514344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514344" cy="457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3148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"Nếu thiếu thông tin,</a:t>
            </a:r>
            <a:br/>
            <a:r>
              <a:t>hãy hỏi lại thay vì đoán."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Tránh AI bịa khi thiếu dữ liệu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7304" y="1143000"/>
            <a:ext cx="3514344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7304" y="1143000"/>
            <a:ext cx="3514344" cy="457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0184" y="1325880"/>
            <a:ext cx="3148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"Hãy tự đóng vai phản biện</a:t>
            </a:r>
            <a:br/>
            <a:r>
              <a:t>và chỉ ra 3 điểm yếu</a:t>
            </a:r>
            <a:br/>
            <a:r>
              <a:t>của câu trả lời vừa rồi."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4464" y="251460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Tự kiểm chất lượng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5968" y="1143000"/>
            <a:ext cx="3514344" cy="20116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25968" y="1143000"/>
            <a:ext cx="3514344" cy="4572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8848" y="1325880"/>
            <a:ext cx="3148584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"Hãy trích nguồn cho mọi</a:t>
            </a:r>
            <a:br/>
            <a:r>
              <a:t>số liệu; nếu không có,</a:t>
            </a:r>
            <a:br/>
            <a:r>
              <a:t>ghi 'chưa kiểm chứng'."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3128" y="2514600"/>
            <a:ext cx="32400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Chống hallucination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21 / 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725912" y="347472"/>
            <a:ext cx="914400" cy="292608"/>
          </a:xfrm>
          <a:prstGeom prst="roundRect">
            <a:avLst>
              <a:gd name="adj" fmla="val 7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25912" y="3474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Be Vietnam Pro"/>
              </a:defRPr>
            </a:pPr>
            <a:r>
              <a:t>10 PHÚT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Bài tập nhanh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11091672" cy="4389120"/>
          </a:xfrm>
          <a:prstGeom prst="roundRect">
            <a:avLst>
              <a:gd name="adj" fmla="val 7000"/>
            </a:avLst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4864" cy="438912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10634472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00"/>
              </a:lnSpc>
              <a:defRPr sz="1000" b="0" i="0">
                <a:solidFill>
                  <a:srgbClr val="334155"/>
                </a:solidFill>
                <a:latin typeface="Inter"/>
              </a:defRPr>
            </a:pPr>
            <a:r>
              <a:t>Đưa 1 file giả lập cho AI tóm tắt, rồi</a:t>
            </a:r>
            <a:br/>
            <a:br/>
            <a:r>
              <a:t>     TỰ TÌM RA ÍT NHẤT 1 LỖI trong kết quả.</a:t>
            </a:r>
            <a:br/>
            <a:br/>
            <a:r>
              <a:t>Mục tiêu: tập thói quen nghi ngờ có kiểm chứng —</a:t>
            </a:r>
            <a:br/>
            <a:r>
              <a:t>không tin ngay, luôn đối chiếu với file gốc.</a:t>
            </a:r>
            <a:br/>
            <a:br/>
            <a:r>
              <a:t>Mỗi bàn cử 1 người đọc lỗi mình tìm được.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22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Mẹo tiếng Việt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Quy ước nội bộ — không phải tuyên bố chính thức của hãng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Trong thực tế dùng nội bộ, tiếng Việt cho kết quả tốt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270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Không có tuyên bố chính thức nào của OpenAI/Google so sánh tiếng Việt vs tiếng Anh — đây là kinh nghiệm, không phải chuẩn hãng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1109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Cần viết tiếng Anh chuẩn bản xứ → ra lệnh bằng tiếng Anh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951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•  Bài toán logic/pháp lý phức tạp → thử: hướng dẫn bằng tiếng Anh + dữ liệu tiếng Việt trong """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23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Lỗi phổ biến khi prompt tiếng Việt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33856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Viết quá ngắn kiểu chat: "làm giúp cái báo cáo" → thiếu hết thành tố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Thiếu dấu phân cách giữa lệnh và dữ liệu → AI nhầm đâu là yêu cầu, đâu là nội dung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Không nói rõ đơn vị (kg vs tấn) → sai phép tính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724911"/>
            <a:ext cx="91440" cy="91440"/>
          </a:xfrm>
          <a:prstGeom prst="roundRect">
            <a:avLst>
              <a:gd name="adj" fmla="val 7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96895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Dùng từ mơ hồ: "làm cho hay hơn" → hãy nói "rút gọn còn 150 chữ, giọng trang trọng"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24 / 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Tổng kết khối 2 —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0467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1">
                <a:solidFill>
                  <a:srgbClr val="94A3B8"/>
                </a:solidFill>
                <a:latin typeface="Inter"/>
              </a:defRPr>
            </a:pPr>
            <a:r>
              <a:t>In ra chính là Thẻ Prompt bỏ túi — để ở bàn làm việc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16152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☐  Vai trò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☐  Bối cảnh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84248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1109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☐  Nhiệm vụ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68296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951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☐  Ràng buộc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52344"/>
            <a:ext cx="164592" cy="164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79192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☐  Định dạng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143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4 KỸ THUẬT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46304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•  Đóng vai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8308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•  Đưa ngữ cảnh &amp; tài liệu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10312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•  Cho ví dụ (few-shot)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423159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334155"/>
                </a:solidFill>
                <a:latin typeface="Inter"/>
              </a:defRPr>
            </a:pPr>
            <a:r>
              <a:t>•  Chia nhỏ &amp; lặp lại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143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0F233A"/>
                </a:solidFill>
                <a:latin typeface="Be Vietnam Pro"/>
              </a:defRPr>
            </a:pPr>
            <a:r>
              <a:t>3 CÂU THẦN CHÚ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46304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•  "Hỏi lại thay vì đoán"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178308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•  "Chê 3 điểm yếu"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1031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•  "Trích nguồn / chưa kiểm chứng"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8328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F59E0B"/>
                </a:solidFill>
                <a:latin typeface="Inter"/>
              </a:defRPr>
            </a:pPr>
            <a:r>
              <a:t>Tự chấm prompt vừa viết: đủ 5 thành tố chưa? Thiếu ô nào, bổ sung ngay.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25 / 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0F233A"/>
                </a:solidFill>
                <a:latin typeface="Be Vietnam Pro"/>
              </a:defRPr>
            </a:pPr>
            <a:r>
              <a:t>Giải lao  —  8 phút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8036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64748B"/>
                </a:solidFill>
                <a:latin typeface="Inter"/>
              </a:defRPr>
            </a:pPr>
            <a:r>
              <a:t>Quay lại lúc __:__  ·  Tranh thủ hỏi trợ giảng nếu vướng đăng nhập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 i="0">
                <a:solidFill>
                  <a:srgbClr val="EF4444"/>
                </a:solidFill>
                <a:latin typeface="Be Vietnam Pro"/>
              </a:defRPr>
            </a:pPr>
            <a:r>
              <a:t>PHẦN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233A"/>
                </a:solidFill>
                <a:latin typeface="Be Vietnam Pro"/>
              </a:defRPr>
            </a:pPr>
            <a:r>
              <a:t>An toàn dữ liệu &amp; ranh giới đỏ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64748B"/>
                </a:solidFill>
                <a:latin typeface="Inter"/>
              </a:defRPr>
            </a:pPr>
            <a:r>
              <a:t>17 phút  ·  Phần quan trọng nhất hôm nay  ·  5 điều cấm  ·  Hallucination &amp; cách bắt lỗi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40280"/>
            <a:ext cx="16459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0F233A"/>
                </a:solidFill>
                <a:latin typeface="Be Vietnam Pro"/>
              </a:defRPr>
            </a:pPr>
            <a:r>
              <a:t>Vì sao phải nói về an toàn?  (tài khoản cá nhân)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33856"/>
            <a:ext cx="91440" cy="91440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Tài khoản cá nhân: hội thoại mặc định có thể được dùng để cải thiện mô hình — trừ khi bạn tự tắt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64208"/>
            <a:ext cx="91440" cy="91440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3619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Dữ liệu đi từ máy bạn → máy chủ ở nước ngoài → có thể được lưu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94560"/>
            <a:ext cx="91440" cy="91440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66544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 i="0">
                <a:solidFill>
                  <a:srgbClr val="334155"/>
                </a:solidFill>
                <a:latin typeface="Inter"/>
              </a:defRPr>
            </a:pPr>
            <a:r>
              <a:t>Không gây hoang mang — chỉ nói rõ ranh giới để tự bảo vệ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28 /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Tắt chia sẻ huấn luyện — làm ngay tại lớp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360152" y="347472"/>
            <a:ext cx="1280160" cy="292608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360152" y="34747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1" i="0">
                <a:solidFill>
                  <a:srgbClr val="FFFFFF"/>
                </a:solidFill>
                <a:latin typeface="Be Vietnam Pro"/>
              </a:defRPr>
            </a:pPr>
            <a:r>
              <a:t>LÀM NGAY  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5623560" cy="23774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155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1. Bấm avatar (góc dưới trái / trên phải)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2. Settings  →  Data controls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2996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3. Tắt "Improve the model for everyone"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225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Chỉ ảnh hưởng hội thoại SAU KHI TẮT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Business/Enterprise: mặc định đã loại trừ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6752" y="1005840"/>
            <a:ext cx="5623560" cy="237744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115568"/>
            <a:ext cx="5349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Gemini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1444752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Vào trang activity của tài khoản Google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5352" y="1737360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Tìm mục Gemini Apps Activity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2029968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Tắt / quản lý lịch sử tại đó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2322576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Chi tiết xem trong cẩm nang Chương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2615184"/>
            <a:ext cx="5257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 i="0">
                <a:solidFill>
                  <a:srgbClr val="334155"/>
                </a:solidFill>
                <a:latin typeface="Inter"/>
              </a:defRPr>
            </a:pPr>
            <a:r>
              <a:t>•  Yêu cầu cả lớp mở điện thoại làm ngay!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1188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F59E0B"/>
                </a:solidFill>
                <a:latin typeface="Inter"/>
              </a:defRPr>
            </a:pPr>
            <a:r>
              <a:t>Trợ giảng đi quanh kiểm tra từng bàn — ai chưa làm được giơ tay.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29 / 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5 điều cấm khi dùng tài khoản cá nhân  —  SLIDE QUAN TRỌNG NHẤT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619756.0" y="960120"/>
          <a:ext cx="6949440" cy="2267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194560"/>
                <a:gridCol w="2194560"/>
                <a:gridCol w="2194560"/>
              </a:tblGrid>
              <a:tr h="37795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#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Cấm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Vì sao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  <a:latin typeface="Be Vietnam Pro"/>
                        </a:defRPr>
                      </a:pPr>
                      <a:r>
                        <a:t>Làm thay thế</a:t>
                      </a:r>
                    </a:p>
                  </a:txBody>
                  <a:tcPr anchor="ctr" marT="50800" marB="50800" marL="76200" marR="76200">
                    <a:solidFill>
                      <a:srgbClr val="0F233A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1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Họ tên + CCCD, lương, HĐLĐ,</a:t>
                      </a:r>
                      <a:br/>
                      <a:r>
                        <a:t>sức khỏe nhân viên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Rò rỉ dữ liệu cá nhân,</a:t>
                      </a:r>
                      <a:br/>
                      <a:r>
                        <a:t>vi phạm pháp luật bảo vệ dữ liệu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Dùng tên giả "Anh A",</a:t>
                      </a:r>
                      <a:br/>
                      <a:r>
                        <a:t>che số CCCD</a:t>
                      </a:r>
                    </a:p>
                  </a:txBody>
                  <a:tcPr anchor="ctr" marT="38100" marB="38100" marL="76200" marR="76200"/>
                </a:tc>
              </a:tr>
              <a:tr h="37795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2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Giá vốn, công thức, DS khách hàng,</a:t>
                      </a:r>
                      <a:br/>
                      <a:r>
                        <a:t>hợp đồng/báo giá mật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Bí mật kinh doanh có thể</a:t>
                      </a:r>
                      <a:br/>
                      <a:r>
                        <a:t>bị lưu trên máy chủ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Mô tả chung chung:</a:t>
                      </a:r>
                      <a:br/>
                      <a:r>
                        <a:t>"sấy giòn, phân khúc trung cấp"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3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TK ngân hàng, MST, tờ khai,</a:t>
                      </a:r>
                      <a:br/>
                      <a:r>
                        <a:t>BCTC chưa công bố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Rủi ro gian lận,</a:t>
                      </a:r>
                      <a:br/>
                      <a:r>
                        <a:t>lộ số liệu nhạy cảm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Tóm tắt thành tỷ lệ / %</a:t>
                      </a:r>
                      <a:br/>
                      <a:r>
                        <a:t>trước khi hỏi AI</a:t>
                      </a:r>
                    </a:p>
                  </a:txBody>
                  <a:tcPr anchor="ctr" marT="38100" marB="38100" marL="76200" marR="76200"/>
                </a:tc>
              </a:tr>
              <a:tr h="37795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Giao AI quyết định nhân sự,</a:t>
                      </a:r>
                      <a:br/>
                      <a:r>
                        <a:t>lương, kỷ luật, ký thay VB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AI không chịu trách nhiệm,</a:t>
                      </a:r>
                      <a:br/>
                      <a:r>
                        <a:t>người ký chịu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AI chỉ gợi ý nháp,</a:t>
                      </a:r>
                      <a:br/>
                      <a:r>
                        <a:t>người quyết định &amp; ký</a:t>
                      </a:r>
                    </a:p>
                  </a:txBody>
                  <a:tcPr anchor="ctr" marT="38100" marB="38100" marL="76200" marR="76200">
                    <a:solidFill>
                      <a:srgbClr val="F8FAFC"/>
                    </a:solidFill>
                  </a:tcPr>
                </a:tc>
              </a:tr>
              <a:tr h="377952">
                <a:tc>
                  <a:txBody>
                    <a:bodyPr wrap="square"/>
                    <a:lstStyle/>
                    <a:p>
                      <a:pPr algn="ctr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5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Đăng ra ngoài nội dung AI tạo</a:t>
                      </a:r>
                      <a:br/>
                      <a:r>
                        <a:t>chưa kiểm chứng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AI bịa rất thuyết phục,</a:t>
                      </a:r>
                      <a:br/>
                      <a:r>
                        <a:t>gây thiệt hại uy tín &amp; pháp lý</a:t>
                      </a:r>
                    </a:p>
                  </a:txBody>
                  <a:tcPr anchor="ctr" marT="38100" marB="38100" marL="76200" marR="76200"/>
                </a:tc>
                <a:tc>
                  <a:txBody>
                    <a:bodyPr wrap="square"/>
                    <a:lstStyle/>
                    <a:p>
                      <a:pPr algn="l">
                        <a:defRPr sz="750">
                          <a:solidFill>
                            <a:srgbClr val="334155"/>
                          </a:solidFill>
                          <a:latin typeface="Inter"/>
                        </a:defRPr>
                      </a:pPr>
                      <a:r>
                        <a:t>Luôn kiểm Bước 3</a:t>
                      </a:r>
                      <a:br/>
                      <a:r>
                        <a:t>trước khi gửi</a:t>
                      </a:r>
                    </a:p>
                  </a:txBody>
                  <a:tcPr anchor="ctr" marT="38100" marB="38100" marL="76200" marR="76200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30 / 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Be Vietnam Pro"/>
              </a:defRPr>
            </a:pPr>
            <a:r>
              <a:t>Hallucination — AI bịa rất giống thật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⚠  Nêu điều luật / nghị định rất cụ thể  —  nhưng tìm Google không 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⚠  Số liệu "theo Tổng cục Thống kê 2024"  —  nhưng không có link tồn tại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⚠  Trích dẫn lời người nổi tiếng  —  bạn chưa từng nghe — có thể bịa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334155"/>
                </a:solidFill>
                <a:latin typeface="Inter"/>
              </a:defRPr>
            </a:pPr>
            <a:r>
              <a:t>⚠  Câu trả lời quá mượt, quá tự tin  —  không hề nói "tôi không chắc"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64748B"/>
                </a:solidFill>
                <a:latin typeface="Inter"/>
              </a:defRPr>
            </a:pPr>
            <a:r>
              <a:t>Demo: hỏi AI "Nghị định 13/2023 nói gì về bảo vệ dữ liệu cá nhân?" — so sánh câu trả lời AI vs văn bản thật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2044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EF4444"/>
                </a:solidFill>
                <a:latin typeface="Inter"/>
              </a:defRPr>
            </a:pPr>
            <a:r>
              <a:t>Yêu cầu AI trích nguồn có link — không có link thì không đáng tin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31 /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0F233A"/>
                </a:solidFill>
                <a:latin typeface="Be Vietnam Pro"/>
              </a:defRPr>
            </a:pPr>
            <a:r>
              <a:t>3 cách bắt lỗi AI bịa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43000"/>
            <a:ext cx="3544824" cy="38404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19884" y="1325880"/>
            <a:ext cx="402336" cy="402336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19884" y="13258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Be Vietnam Pro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74519"/>
            <a:ext cx="3270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Bắt trích nguồn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86000"/>
            <a:ext cx="32705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Yêu cầu AI trích</a:t>
            </a:r>
            <a:br/>
            <a:r>
              <a:t>nguồn có link</a:t>
            </a:r>
            <a:br/>
            <a:r>
              <a:t>cho mọi số liệu/</a:t>
            </a:r>
            <a:br/>
            <a:r>
              <a:t>điều luật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1752" y="27432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064" y="1143000"/>
            <a:ext cx="3544824" cy="38404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893308" y="1325880"/>
            <a:ext cx="402336" cy="402336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3308" y="13258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Be Vietnam Pro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9224" y="1874519"/>
            <a:ext cx="3270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Tự đối chiếu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9224" y="2286000"/>
            <a:ext cx="32705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Mở link / văn bản gốc</a:t>
            </a:r>
            <a:br/>
            <a:r>
              <a:t>tự kiểm lại</a:t>
            </a:r>
            <a:br/>
            <a:r>
              <a:t>(Gemini: "hãy tìm trên</a:t>
            </a:r>
            <a:br/>
            <a:r>
              <a:t>mạng và chỉ trả lời</a:t>
            </a:r>
            <a:br/>
            <a:r>
              <a:t>dựa trên kết quả")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5176" y="274320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BD5E1"/>
                </a:solidFill>
                <a:latin typeface="Inter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5488" y="1143000"/>
            <a:ext cx="3544824" cy="3840480"/>
          </a:xfrm>
          <a:prstGeom prst="roundRect">
            <a:avLst>
              <a:gd name="adj" fmla="val 700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66732" y="1325880"/>
            <a:ext cx="402336" cy="402336"/>
          </a:xfrm>
          <a:prstGeom prst="roundRect">
            <a:avLst>
              <a:gd name="adj" fmla="val 7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6732" y="1325880"/>
            <a:ext cx="4023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Be Vietnam Pro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2648" y="1874519"/>
            <a:ext cx="3270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0F233A"/>
                </a:solidFill>
                <a:latin typeface="Be Vietnam Pro"/>
              </a:defRPr>
            </a:pPr>
            <a:r>
              <a:t>Hỏi vặn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2648" y="2286000"/>
            <a:ext cx="3270504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00"/>
              </a:lnSpc>
              <a:defRPr sz="750" b="0" i="0">
                <a:solidFill>
                  <a:srgbClr val="64748B"/>
                </a:solidFill>
                <a:latin typeface="Inter"/>
              </a:defRPr>
            </a:pPr>
            <a:r>
              <a:t>"Bạn có chắc</a:t>
            </a:r>
            <a:br/>
            <a:r>
              <a:t>điều luật này</a:t>
            </a:r>
            <a:br/>
            <a:r>
              <a:t>tồn tại không?</a:t>
            </a:r>
            <a:br/>
            <a:r>
              <a:t>Không chắc thì nói</a:t>
            </a:r>
            <a:br/>
            <a:r>
              <a:t>"tôi không chắc"."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32 / 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EF4444"/>
                </a:solidFill>
                <a:latin typeface="Be Vietnam Pro"/>
              </a:defRPr>
            </a:pPr>
            <a:r>
              <a:t>Những việc tuyệt đối không giao cho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2601468" cy="1828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07008"/>
            <a:ext cx="23820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F4444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64208"/>
            <a:ext cx="24185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50" b="1" i="0">
                <a:solidFill>
                  <a:srgbClr val="EF4444"/>
                </a:solidFill>
                <a:latin typeface="Be Vietnam Pro"/>
              </a:defRPr>
            </a:pPr>
            <a:r>
              <a:t>Tính lương /</a:t>
            </a:r>
            <a:br/>
            <a:r>
              <a:t>quyết định nhân sự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4185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Kỷ luật, tăng/giảm</a:t>
            </a:r>
            <a:br/>
            <a:r>
              <a:t>lương, sa thải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8708" y="1051560"/>
            <a:ext cx="2601468" cy="1828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88436" y="1207008"/>
            <a:ext cx="23820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F4444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0148" y="1664208"/>
            <a:ext cx="24185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50" b="1" i="0">
                <a:solidFill>
                  <a:srgbClr val="EF4444"/>
                </a:solidFill>
                <a:latin typeface="Be Vietnam Pro"/>
              </a:defRPr>
            </a:pPr>
            <a:r>
              <a:t>Báo cáo tài chính /</a:t>
            </a:r>
            <a:br/>
            <a:r>
              <a:t>tờ khai thuế để nộp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0148" y="2240280"/>
            <a:ext cx="24185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Nộp cơ quan</a:t>
            </a:r>
            <a:br/>
            <a:r>
              <a:t>nhà nước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051560"/>
            <a:ext cx="2601468" cy="1828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207008"/>
            <a:ext cx="23820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F4444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216" y="1664208"/>
            <a:ext cx="24185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50" b="1" i="0">
                <a:solidFill>
                  <a:srgbClr val="EF4444"/>
                </a:solidFill>
                <a:latin typeface="Be Vietnam Pro"/>
              </a:defRPr>
            </a:pPr>
            <a:r>
              <a:t>Hợp đồng pháp lý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2240280"/>
            <a:ext cx="24185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Không qua người</a:t>
            </a:r>
            <a:br/>
            <a:r>
              <a:t>có chuyên môn rà soát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38844" y="1051560"/>
            <a:ext cx="2601468" cy="1828800"/>
          </a:xfrm>
          <a:prstGeom prst="roundRect">
            <a:avLst>
              <a:gd name="adj" fmla="val 7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8572" y="1207008"/>
            <a:ext cx="23820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EF4444"/>
                </a:solidFill>
                <a:latin typeface="Inter"/>
              </a:defRPr>
            </a:pPr>
            <a:r>
              <a:t>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0284" y="1664208"/>
            <a:ext cx="24185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00"/>
              </a:lnSpc>
              <a:defRPr sz="750" b="1" i="0">
                <a:solidFill>
                  <a:srgbClr val="EF4444"/>
                </a:solidFill>
                <a:latin typeface="Be Vietnam Pro"/>
              </a:defRPr>
            </a:pPr>
            <a:r>
              <a:t>Cam kết chất lượng /</a:t>
            </a:r>
            <a:br/>
            <a:r>
              <a:t>hạn dùng / chứng nhận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0284" y="2240280"/>
            <a:ext cx="24185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64748B"/>
                </a:solidFill>
                <a:latin typeface="Inter"/>
              </a:defRPr>
            </a:pPr>
            <a:r>
              <a:t>Phải dựa trên</a:t>
            </a:r>
            <a:br/>
            <a:r>
              <a:t>hồ sơ QC thật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F233A"/>
                </a:solidFill>
                <a:latin typeface="Be Vietnam Pro"/>
              </a:defRPr>
            </a:pPr>
            <a:r>
              <a:t>AI gợi ý  —  Người quyết định  —  Người ký chịu trách nhiệm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33 / 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FFFFF"/>
                </a:solidFill>
                <a:latin typeface="Be Vietnam Pro"/>
              </a:defRPr>
            </a:pPr>
            <a:r>
              <a:t>Hết Buổi 1  —  Hẹn gặp lại ở Buổi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2011680"/>
            <a:ext cx="8897112" cy="347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83080" y="2011680"/>
            <a:ext cx="8622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0F233A"/>
                </a:solidFill>
                <a:latin typeface="Inter"/>
              </a:defRPr>
            </a:pPr>
            <a:r>
              <a:t>  1.  Mỗi người: viết 3 prompt cho việc thật của mình — tự chấm theo rubric 4 mức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450592"/>
            <a:ext cx="8897112" cy="347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83080" y="2450592"/>
            <a:ext cx="8622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0F233A"/>
                </a:solidFill>
                <a:latin typeface="Inter"/>
              </a:defRPr>
            </a:pPr>
            <a:r>
              <a:t>  2.  Mỗi phòng: cử 1 Champion — chỗ hỏi đầu tiên của đồng nghiệp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889504"/>
            <a:ext cx="8897112" cy="34747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889504"/>
            <a:ext cx="8622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0F233A"/>
                </a:solidFill>
                <a:latin typeface="Inter"/>
              </a:defRPr>
            </a:pPr>
            <a:r>
              <a:t>  3.  Mang đến Buổi 2: 1 email / 1 báo cáo / 1 bảng tính thật — đã ẩn dữ liệu nhạy cảm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93C5FD"/>
                </a:solidFill>
                <a:latin typeface="Inter"/>
              </a:defRPr>
            </a:pPr>
            <a:r>
              <a:t>Lịch Buổi 2:  [ ngày  ·  giờ  ·  phòng ]     ·     Nhóm Zalo "Hỗ trợ AI — An Bình Foods"  ·  Hỏi ngay khi vướng, đừng để dành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11091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 i="0">
                <a:solidFill>
                  <a:srgbClr val="94A3B8"/>
                </a:solidFill>
                <a:latin typeface="Inter"/>
              </a:defRPr>
            </a:pPr>
            <a:r>
              <a:t>QR code nhóm Zalo dán ở cửa phòng  ·  Gặp khó trong 7 ngày tới, hỏi nhóm ngay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1712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34 / 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50" b="0" i="0">
                <a:solidFill>
                  <a:srgbClr val="94A3B8"/>
                </a:solidFill>
                <a:latin typeface="Inter"/>
              </a:defRPr>
            </a:pPr>
            <a:r>
              <a:t>An Bình Foods  ·  Tài liệu lưu hành nội bộ  ·  v2.0 — 09/2026  ·  Review: 12/2026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