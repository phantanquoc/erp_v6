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2377440" cy="329184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Be Vietnam Pro"/>
              </a:defRPr>
            </a:pPr>
            <a:r>
              <a:t>BUỔI 2  ·  ÁP DỤNG  ·  90 PHÚT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200" b="1" i="0">
                <a:solidFill>
                  <a:srgbClr val="FFFFFF"/>
                </a:solidFill>
                <a:latin typeface="Be Vietnam Pro"/>
              </a:defRPr>
            </a:pPr>
            <a:r>
              <a:t>AI cho công việc văn phòng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93C5FD"/>
                </a:solidFill>
                <a:latin typeface="Inter"/>
              </a:defRPr>
            </a:pPr>
            <a:r>
              <a:t>Buổi 2  ·  Áp dụng vào việc thật của bạn  —  Mang việc thật vào lớp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71800"/>
            <a:ext cx="62179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spcAft>
                <a:spcPts val="200"/>
              </a:spcAft>
              <a:defRPr sz="750" b="1">
                <a:solidFill>
                  <a:srgbClr val="0F233A"/>
                </a:solidFill>
                <a:latin typeface="Inter"/>
              </a:defRPr>
            </a:pPr>
            <a:r>
              <a:t>Tài liệu lưu hành nội bộ  ·  v2.0 — 09/2026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750">
                <a:solidFill>
                  <a:srgbClr val="334155"/>
                </a:solidFill>
                <a:latin typeface="Inter"/>
              </a:defRPr>
            </a:pPr>
            <a:r>
              <a:t>Yêu cầu: mỗi học viên mang 1 việc thật đã ẩn dữ liệu nhạy cảm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750">
                <a:solidFill>
                  <a:srgbClr val="334155"/>
                </a:solidFill>
                <a:latin typeface="Inter"/>
              </a:defRPr>
            </a:pPr>
            <a:r>
              <a:t>Chủ sở hữu: Ban Hành chính &amp; Chuyển đổi số  ·  Review: 12/2026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97112" y="100584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2" y="21945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93C5FD"/>
                </a:solidFill>
                <a:latin typeface="Be Vietnam Pro"/>
              </a:defRPr>
            </a:pPr>
            <a:r>
              <a:t>AI  ·  ChatGPT  ·  Gemini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34272" y="2697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 i="0">
                <a:solidFill>
                  <a:srgbClr val="94A3B8"/>
                </a:solidFill>
                <a:latin typeface="Inter"/>
              </a:defRPr>
            </a:pPr>
            <a:r>
              <a:t>Dùng nhanh hơn  ·  Nhàn hơn  ·  An toàn hơn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3A"/>
                </a:solidFill>
                <a:latin typeface="Be Vietnam Pro"/>
              </a:defRPr>
            </a:pPr>
            <a:r>
              <a:t>Check-in 7 ngày qua  —  giơ tay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94A3B8"/>
                </a:solidFill>
                <a:latin typeface="Inter"/>
              </a:defRPr>
            </a:pPr>
            <a:r>
              <a:t>2 phút — ghi nhận cả người chưa dùng, không phê bình. Mục đích: biết ai cần kèm sát trong breakout.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62456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Ai đã dùng AI cho việc thật của mình?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92808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Ai thấy kết quả không dùng được — vướng ở đâu?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23160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951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Ai gặp chỗ không biết hỏi AI sao cho ra?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02 / 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2-3 học viên trình bày prompt tốt nhất của mình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94A3B8"/>
                </a:solidFill>
                <a:latin typeface="Inter"/>
              </a:defRPr>
            </a:pPr>
            <a:r>
              <a:t>Mời người nộp bài sớm / bài được chấm cao — chiếu kết quả họ nộp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4155"/>
                </a:solidFill>
                <a:latin typeface="Inter"/>
              </a:defRPr>
            </a:pPr>
            <a:r>
              <a:t>•  Chiếu prompt + kết quả họ nộp — cả lớp cùng xem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1848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4155"/>
                </a:solidFill>
                <a:latin typeface="Inter"/>
              </a:defRPr>
            </a:pPr>
            <a:r>
              <a:t>•  Giảng viên chỉ ra VÌ SAO nó hoạt động (đủ thành tố nào, ràng buộc nào hiệu quả)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0253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4155"/>
                </a:solidFill>
                <a:latin typeface="Inter"/>
              </a:defRPr>
            </a:pPr>
            <a:r>
              <a:t>•  Mục tiêu: cả lớp suy ra nguyên tắc — không chỉ copy một prompt hay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 i="1">
                <a:solidFill>
                  <a:srgbClr val="94A3B8"/>
                </a:solidFill>
                <a:latin typeface="Inter"/>
              </a:defRPr>
            </a:pPr>
            <a:r>
              <a:t>Tip: nếu không có bài nộp, dùng 2 bài mẫu đã chuẩn bị sẵn — đừng để trống.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03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2563EB"/>
                </a:solidFill>
                <a:latin typeface="Be Vietnam Pro"/>
              </a:defRPr>
            </a:pPr>
            <a:r>
              <a:t>PHẦN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233A"/>
                </a:solidFill>
                <a:latin typeface="Be Vietnam Pro"/>
              </a:defRPr>
            </a:pPr>
            <a:r>
              <a:t>Quy trình 4 bước &amp; tạo văn bản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  <a:latin typeface="Inter"/>
              </a:defRPr>
            </a:pPr>
            <a:r>
              <a:t>15 phút  ·  Sơ đồ 4 bước  ·  Checklist review  ·  Demo tóm tắt &amp; biên tập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40280"/>
            <a:ext cx="1645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Quy trình 4 bước  —  dán ở bàn làm việc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2601468" cy="38404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48206" y="1325880"/>
            <a:ext cx="402336" cy="402336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8206" y="132588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Be Vietnam Pro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23271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233A"/>
                </a:solidFill>
                <a:latin typeface="Be Vietnam Pro"/>
              </a:defRPr>
            </a:pPr>
            <a:r>
              <a:t>Bạn ra 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23271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Bullet: mục đích,</a:t>
            </a:r>
            <a:br/>
            <a:r>
              <a:t>đối tượng, 3-5 ý chính,</a:t>
            </a:r>
            <a:br/>
            <a:r>
              <a:t>số liệu phải có</a:t>
            </a:r>
            <a:br/>
            <a:r>
              <a:t>(5-10')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8396" y="274320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CBD5E1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8708" y="1143000"/>
            <a:ext cx="2601468" cy="38404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78274" y="1325880"/>
            <a:ext cx="402336" cy="402336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8274" y="132588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Be Vietnam Pro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5868" y="1874519"/>
            <a:ext cx="23271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233A"/>
                </a:solidFill>
                <a:latin typeface="Be Vietnam Pro"/>
              </a:defRPr>
            </a:pPr>
            <a:r>
              <a:t>AI viết nháp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5868" y="2286000"/>
            <a:ext cx="23271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Dán dàn ý + prompt</a:t>
            </a:r>
            <a:br/>
            <a:r>
              <a:t>5 thành tố</a:t>
            </a:r>
            <a:br/>
            <a:r>
              <a:t>→ AI viết nháp</a:t>
            </a:r>
            <a:br/>
            <a:r>
              <a:t>(2-3')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8464" y="274320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CBD5E1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143000"/>
            <a:ext cx="2601468" cy="38404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08342" y="1325880"/>
            <a:ext cx="402336" cy="402336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08342" y="132588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Be Vietnam Pro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1874519"/>
            <a:ext cx="23271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233A"/>
                </a:solidFill>
                <a:latin typeface="Be Vietnam Pro"/>
              </a:defRPr>
            </a:pPr>
            <a:r>
              <a:t>Bạn kiểm 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286000"/>
            <a:ext cx="23271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Số liệu đúng?</a:t>
            </a:r>
            <a:br/>
            <a:r>
              <a:t>Tên đúng? Điều luật</a:t>
            </a:r>
            <a:br/>
            <a:r>
              <a:t>có thật? Giọng hợp?</a:t>
            </a:r>
            <a:br/>
            <a:r>
              <a:t>Sửa trực tiếp (10-15')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8532" y="274320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CBD5E1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38844" y="1143000"/>
            <a:ext cx="2601468" cy="38404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138410" y="1325880"/>
            <a:ext cx="402336" cy="402336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38410" y="132588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Be Vietnam Pro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6004" y="1874519"/>
            <a:ext cx="23271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233A"/>
                </a:solidFill>
                <a:latin typeface="Be Vietnam Pro"/>
              </a:defRPr>
            </a:pPr>
            <a:r>
              <a:t>AI làm mịn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6004" y="2286000"/>
            <a:ext cx="232714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"Biên tập mượt,</a:t>
            </a:r>
            <a:br/>
            <a:r>
              <a:t>sửa chính tả,</a:t>
            </a:r>
            <a:br/>
            <a:r>
              <a:t>giữ nguyên số liệu</a:t>
            </a:r>
            <a:br/>
            <a:r>
              <a:t>tôi đã sửa" (2-3')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05 / 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Checklist "review trước khi gửi"  —  in vào mặt sau Thẻ Prompt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4155"/>
                </a:solidFill>
                <a:latin typeface="Inter"/>
              </a:defRPr>
            </a:pPr>
            <a:r>
              <a:t>Số liệu đúng chưa?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18488"/>
            <a:ext cx="164592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4155"/>
                </a:solidFill>
                <a:latin typeface="Inter"/>
              </a:defRPr>
            </a:pPr>
            <a:r>
              <a:t>Tên người / đơn vị đúng chưa?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93976"/>
            <a:ext cx="164592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0253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4155"/>
                </a:solidFill>
                <a:latin typeface="Inter"/>
              </a:defRPr>
            </a:pPr>
            <a:r>
              <a:t>Điều luật / văn bản có tồn tại không?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69464"/>
            <a:ext cx="164592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780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4155"/>
                </a:solidFill>
                <a:latin typeface="Inter"/>
              </a:defRPr>
            </a:pPr>
            <a:r>
              <a:t>Giọng văn hợp người nhận chưa?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44952"/>
            <a:ext cx="164592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535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4155"/>
                </a:solidFill>
                <a:latin typeface="Inter"/>
              </a:defRPr>
            </a:pPr>
            <a:r>
              <a:t>Còn dữ liệu nhạy cảm nào lộ không?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06 / 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Tạo văn bản — 5 loại hay dùng nhất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567178" cy="17373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567178" cy="3657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389888"/>
            <a:ext cx="223799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233A"/>
                </a:solidFill>
                <a:latin typeface="Be Vietnam Pro"/>
              </a:defRPr>
            </a:pPr>
            <a:r>
              <a:t>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55648"/>
            <a:ext cx="229285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Xin lỗi giao hàng chậm,</a:t>
            </a:r>
            <a:br/>
            <a:r>
              <a:t>đối chiếu công nợ,</a:t>
            </a:r>
            <a:br/>
            <a:r>
              <a:t>chăm sóc khách hàng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0138" y="1188720"/>
            <a:ext cx="2567178" cy="17373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90138" y="1188720"/>
            <a:ext cx="2567178" cy="3657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4730" y="1389888"/>
            <a:ext cx="223799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233A"/>
                </a:solidFill>
                <a:latin typeface="Be Vietnam Pro"/>
              </a:defRPr>
            </a:pPr>
            <a:r>
              <a:t>Biên bản</a:t>
            </a:r>
            <a:br/>
            <a:r>
              <a:t>&amp; Báo cáo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298" y="1755648"/>
            <a:ext cx="229285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Tóm tắt họp,</a:t>
            </a:r>
            <a:br/>
            <a:r>
              <a:t>báo cáo tuần/tháng,</a:t>
            </a:r>
            <a:br/>
            <a:r>
              <a:t>theo dõi việc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188720"/>
            <a:ext cx="2567178" cy="17373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1636" y="1188720"/>
            <a:ext cx="2567178" cy="3657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6228" y="1389888"/>
            <a:ext cx="223799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233A"/>
                </a:solidFill>
                <a:latin typeface="Be Vietnam Pro"/>
              </a:defRPr>
            </a:pPr>
            <a:r>
              <a:t>Bài đăng</a:t>
            </a:r>
            <a:br/>
            <a:r>
              <a:t>MXH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8796" y="1755648"/>
            <a:ext cx="229285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Caption sản phẩm,</a:t>
            </a:r>
            <a:br/>
            <a:r>
              <a:t>Facebook / Zalo,</a:t>
            </a:r>
            <a:br/>
            <a:r>
              <a:t>bài giới thiệu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3134" y="1188720"/>
            <a:ext cx="2567178" cy="17373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73134" y="1188720"/>
            <a:ext cx="2567178" cy="3657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7726" y="1389888"/>
            <a:ext cx="223799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233A"/>
                </a:solidFill>
                <a:latin typeface="Be Vietnam Pro"/>
              </a:defRPr>
            </a:pPr>
            <a:r>
              <a:t>Dịch thuật</a:t>
            </a:r>
            <a:br/>
            <a:r>
              <a:t>&amp; Tóm tắt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0294" y="1755648"/>
            <a:ext cx="229285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Dịch email, tóm tắt</a:t>
            </a:r>
            <a:br/>
            <a:r>
              <a:t>tài liệu dài,</a:t>
            </a:r>
            <a:br/>
            <a:r>
              <a:t>biên tập làm mịn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07 / 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Demo — Tóm tắt tài liệu dài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94A3B8"/>
                </a:solidFill>
                <a:latin typeface="Inter"/>
              </a:defRPr>
            </a:pPr>
            <a:r>
              <a:t>Làm live — từ tài liệu 3-4 trang → 1 trang trong 30 giây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5623560" cy="27432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64748B"/>
                </a:solidFill>
                <a:latin typeface="Be Vietnam Pro"/>
              </a:defRPr>
            </a:pPr>
            <a:r>
              <a:t>TRƯỚC — Tài liệu 3-4 trang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5257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94A3B8"/>
                </a:solidFill>
                <a:latin typeface="Inter"/>
              </a:defRPr>
            </a:pPr>
            <a:r>
              <a:t>Biên bản họp / báo cáo dài...</a:t>
            </a:r>
            <a:br/>
            <a:r>
              <a:t>Nhiều trang, khó nắm ý chính</a:t>
            </a:r>
            <a:br/>
            <a:r>
              <a:t>→ Tải file lên ChatGPT / Gemini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16752" y="1143000"/>
            <a:ext cx="5623560" cy="2743200"/>
          </a:xfrm>
          <a:prstGeom prst="roundRect">
            <a:avLst>
              <a:gd name="adj" fmla="val 7000"/>
            </a:avLst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53912" y="1234440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D4ED8"/>
                </a:solidFill>
                <a:latin typeface="Be Vietnam Pro"/>
              </a:defRPr>
            </a:pPr>
            <a:r>
              <a:t>SAU — Prompt → tóm tắt 1 trang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1600200"/>
            <a:ext cx="5349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"Tóm tắt thành 3 phần:</a:t>
            </a:r>
            <a:br/>
            <a:r>
              <a:t>(1) Tóm tắt 5 dòng cho BGĐ</a:t>
            </a:r>
            <a:br/>
            <a:r>
              <a:t>(2) 5 ý chính</a:t>
            </a:r>
            <a:br/>
            <a:r>
              <a:t>(3) 3 việc cần làm"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2" y="416052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2563EB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2563EB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08 / 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3A"/>
                </a:solidFill>
                <a:latin typeface="Be Vietnam Pro"/>
              </a:defRPr>
            </a:pPr>
            <a:r>
              <a:t>Demo — Biên tập &amp; làm mịn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33856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Dán đoạn văn lủng củng lên slide → prompt "Biên tập mượt, sửa chính tả, giữ nguyên số liệu"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Cho xem trước / sau cạnh nhau — nhấn mạnh "giữ nguyên số liệu" là ràng buộc bắt buộc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94560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665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Mọi prompt chi tiết ở Cẩm nang Chương 7 &amp; 10 — về chỉ việc copy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09 / 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Rubric chấm prompt / output  —  4 mức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94A3B8"/>
                </a:solidFill>
                <a:latin typeface="Inter"/>
              </a:defRPr>
            </a:pPr>
            <a:r>
              <a:t>Ngưỡng đạt: mức 3 trở lên ở cả 4 tiêu chí  ·  Trưởng phòng ký xác nhận trên template của phòng mình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74036.0" y="1188720"/>
          <a:ext cx="704088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371600"/>
                <a:gridCol w="1371600"/>
                <a:gridCol w="1554480"/>
                <a:gridCol w="1737360"/>
              </a:tblGrid>
              <a:tr h="3767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Be Vietnam Pro"/>
                        </a:defRPr>
                      </a:pPr>
                      <a:r>
                        <a:t>Tiêu chí</a:t>
                      </a:r>
                    </a:p>
                  </a:txBody>
                  <a:tcPr anchor="ctr" marT="50800" marB="50800" marL="76200" marR="76200">
                    <a:solidFill>
                      <a:srgbClr val="0F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Be Vietnam Pro"/>
                        </a:defRPr>
                      </a:pPr>
                      <a:r>
                        <a:t>Mức 1 — Không đạt</a:t>
                      </a:r>
                    </a:p>
                  </a:txBody>
                  <a:tcPr anchor="ctr" marT="50800" marB="50800" marL="76200" marR="76200">
                    <a:solidFill>
                      <a:srgbClr val="0F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Be Vietnam Pro"/>
                        </a:defRPr>
                      </a:pPr>
                      <a:r>
                        <a:t>Mức 2 — Cơ bản</a:t>
                      </a:r>
                    </a:p>
                  </a:txBody>
                  <a:tcPr anchor="ctr" marT="50800" marB="50800" marL="76200" marR="76200">
                    <a:solidFill>
                      <a:srgbClr val="0F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Be Vietnam Pro"/>
                        </a:defRPr>
                      </a:pPr>
                      <a:r>
                        <a:t>Mức 3 — Đạt ✓</a:t>
                      </a:r>
                    </a:p>
                  </a:txBody>
                  <a:tcPr anchor="ctr" marT="50800" marB="50800" marL="76200" marR="76200">
                    <a:solidFill>
                      <a:srgbClr val="0F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Be Vietnam Pro"/>
                        </a:defRPr>
                      </a:pPr>
                      <a:r>
                        <a:t>Mức 4 — Tốt</a:t>
                      </a:r>
                    </a:p>
                  </a:txBody>
                  <a:tcPr anchor="ctr" marT="50800" marB="50800" marL="76200" marR="76200">
                    <a:solidFill>
                      <a:srgbClr val="0F233A"/>
                    </a:solidFill>
                  </a:tcPr>
                </a:tc>
              </a:tr>
              <a:tr h="376732">
                <a:tc>
                  <a:txBody>
                    <a:bodyPr wrap="square"/>
                    <a:lstStyle/>
                    <a:p>
                      <a:pPr algn="ctr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Đủ thành tố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Dưới 2/5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3/5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4-5/5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5/5 + biết cắt bỏ thừa</a:t>
                      </a:r>
                    </a:p>
                  </a:txBody>
                  <a:tcPr anchor="ctr" marT="38100" marB="38100" marL="76200" marR="76200"/>
                </a:tc>
              </a:tr>
              <a:tr h="376732">
                <a:tc>
                  <a:txBody>
                    <a:bodyPr wrap="square"/>
                    <a:lstStyle/>
                    <a:p>
                      <a:pPr algn="ctr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Ràng buộc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Không có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Có 1 ràng buộc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Có ràng buộc định lượng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Có cả "không được làm gì"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</a:tr>
              <a:tr h="376732">
                <a:tc>
                  <a:txBody>
                    <a:bodyPr wrap="square"/>
                    <a:lstStyle/>
                    <a:p>
                      <a:pPr algn="ctr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An toàn DL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Còn tên/số thật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Che một phần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Không còn dữ liệu cấm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Có quy trình che để lặp lại</a:t>
                      </a:r>
                    </a:p>
                  </a:txBody>
                  <a:tcPr anchor="ctr" marT="38100" marB="38100" marL="76200" marR="76200"/>
                </a:tc>
              </a:tr>
              <a:tr h="376736">
                <a:tc>
                  <a:txBody>
                    <a:bodyPr wrap="square"/>
                    <a:lstStyle/>
                    <a:p>
                      <a:pPr algn="ctr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Kiểm chứng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Nhận KQ không soát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Có đọc lại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Tự kiểm 1 số liệu/tên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Ghi rõ mục nào AI tạo,</a:t>
                      </a:r>
                      <a:br/>
                      <a:r>
                        <a:t>mục nào người xác nhận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10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F59E0B"/>
                </a:solidFill>
                <a:latin typeface="Be Vietnam Pro"/>
              </a:defRPr>
            </a:pPr>
            <a:r>
              <a:t>PHẦN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233A"/>
                </a:solidFill>
                <a:latin typeface="Be Vietnam Pro"/>
              </a:defRPr>
            </a:pPr>
            <a:r>
              <a:t>Breakout theo phòng 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  <a:latin typeface="Inter"/>
              </a:defRPr>
            </a:pPr>
            <a:r>
              <a:t>40 phút  ·  Trọng tâm của Buổi 2  ·  Làm trên việc thật  ·  Peer review chéo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40280"/>
            <a:ext cx="16459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Hướng dẫn breakout — 40 phút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2086660" cy="20116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99362" y="1115568"/>
            <a:ext cx="585216" cy="219456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9362" y="1115568"/>
            <a:ext cx="585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Be Vietnam Pro"/>
              </a:defRPr>
            </a:pPr>
            <a:r>
              <a:t>5'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63040"/>
            <a:ext cx="19403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233A"/>
                </a:solidFill>
                <a:latin typeface="Be Vietnam Pro"/>
              </a:defRPr>
            </a:pPr>
            <a:r>
              <a:t>Chọn tác vụ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874519"/>
            <a:ext cx="19403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Tác vụ lặp lại</a:t>
            </a:r>
            <a:br/>
            <a:r>
              <a:t>tốn thời gian nhất</a:t>
            </a:r>
            <a:br/>
            <a:r>
              <a:t>của phòng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9892" y="1051560"/>
            <a:ext cx="2086660" cy="20116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50615" y="1115568"/>
            <a:ext cx="585216" cy="219456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0615" y="1115568"/>
            <a:ext cx="585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Be Vietnam Pro"/>
              </a:defRPr>
            </a:pPr>
            <a:r>
              <a:t>10'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3044" y="1463040"/>
            <a:ext cx="19403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233A"/>
                </a:solidFill>
                <a:latin typeface="Be Vietnam Pro"/>
              </a:defRPr>
            </a:pPr>
            <a:r>
              <a:t>Viết 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3044" y="1874519"/>
            <a:ext cx="19403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1 template prompt</a:t>
            </a:r>
            <a:br/>
            <a:r>
              <a:t>theo 5 thành tố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1145" y="1051560"/>
            <a:ext cx="2086660" cy="20116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01868" y="1115568"/>
            <a:ext cx="585216" cy="219456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1868" y="1115568"/>
            <a:ext cx="585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Be Vietnam Pro"/>
              </a:defRPr>
            </a:pPr>
            <a:r>
              <a:t>10'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4297" y="1463040"/>
            <a:ext cx="19403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233A"/>
                </a:solidFill>
                <a:latin typeface="Be Vietnam Pro"/>
              </a:defRPr>
            </a:pPr>
            <a:r>
              <a:t>Chạy thử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4297" y="1874519"/>
            <a:ext cx="19403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Trên việc thật</a:t>
            </a:r>
            <a:br/>
            <a:r>
              <a:t>bạn mang tới</a:t>
            </a:r>
            <a:br/>
            <a:r>
              <a:t>(đã ẩn dữ liệu)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02398" y="1051560"/>
            <a:ext cx="2086660" cy="20116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53120" y="1115568"/>
            <a:ext cx="585216" cy="219456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53120" y="1115568"/>
            <a:ext cx="585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Be Vietnam Pro"/>
              </a:defRPr>
            </a:pPr>
            <a:r>
              <a:t>5'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5550" y="1463040"/>
            <a:ext cx="19403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233A"/>
                </a:solidFill>
                <a:latin typeface="Be Vietnam Pro"/>
              </a:defRPr>
            </a:pPr>
            <a:r>
              <a:t>Sửa template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5550" y="1874519"/>
            <a:ext cx="19403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Sửa theo</a:t>
            </a:r>
            <a:br/>
            <a:r>
              <a:t>kết quả chạy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3651" y="1051560"/>
            <a:ext cx="2086660" cy="20116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04373" y="1115568"/>
            <a:ext cx="585216" cy="219456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04373" y="1115568"/>
            <a:ext cx="5852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Be Vietnam Pro"/>
              </a:defRPr>
            </a:pPr>
            <a:r>
              <a:t>10'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26803" y="1463040"/>
            <a:ext cx="19403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233A"/>
                </a:solidFill>
                <a:latin typeface="Be Vietnam Pro"/>
              </a:defRPr>
            </a:pPr>
            <a:r>
              <a:t>Trưởng phòng</a:t>
            </a:r>
            <a:br/>
            <a:r>
              <a:t>duyệt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6803" y="1874519"/>
            <a:ext cx="19403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Chấm theo rubric</a:t>
            </a:r>
            <a:br/>
            <a:r>
              <a:t>— trưởng phòng</a:t>
            </a:r>
            <a:br/>
            <a:r>
              <a:t>là người duyệt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3375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 i="1">
                <a:solidFill>
                  <a:srgbClr val="94A3B8"/>
                </a:solidFill>
                <a:latin typeface="Inter"/>
              </a:defRPr>
            </a:pPr>
            <a:r>
              <a:t>Trợ giảng kèm bàn nào lúng túng  ·  Đồng hồ đếm ngược chiếu trên slide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12 / 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F233A"/>
                </a:solidFill>
                <a:latin typeface="Be Vietnam Pro"/>
              </a:defRPr>
            </a:pPr>
            <a:r>
              <a:t>Gợi ý: Hành chính &amp; Nhân sự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749039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2563EB"/>
                </a:solidFill>
                <a:latin typeface="Be Vietnam Pro"/>
              </a:defRPr>
            </a:pPr>
            <a:r>
              <a:t>TÁC VỤ MẪU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Soạn thông báo nội bộ, trích quy định từ nội quy, soạn JD, tóm tắt đơn từ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051560"/>
            <a:ext cx="1828800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1430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2563EB"/>
                </a:solidFill>
                <a:latin typeface="Be Vietnam Pro"/>
              </a:defRPr>
            </a:pPr>
            <a:r>
              <a:t>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417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A1, A2, A3</a:t>
            </a:r>
            <a:br/>
            <a:r>
              <a:t>(Cẩm nang Ch.10)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11091672" cy="685800"/>
          </a:xfrm>
          <a:prstGeom prst="roundRect">
            <a:avLst>
              <a:gd name="adj" fmla="val 7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697480"/>
            <a:ext cx="45720" cy="68580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F4444"/>
                </a:solidFill>
                <a:latin typeface="Inter"/>
              </a:defRPr>
            </a:pPr>
            <a:r>
              <a:t>Ràng buộc riêng phòng này:  Không dán thông tin cá nhân NV — đổi tên, che CCCD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13 / 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F233A"/>
                </a:solidFill>
                <a:latin typeface="Be Vietnam Pro"/>
              </a:defRPr>
            </a:pPr>
            <a:r>
              <a:t>Gợi ý: Kế toán &amp; Mua hàng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749039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4B8A6"/>
                </a:solidFill>
                <a:latin typeface="Be Vietnam Pro"/>
              </a:defRPr>
            </a:pPr>
            <a:r>
              <a:t>TÁC VỤ MẪU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Công văn đối chiếu công nợ, giải thích chênh lệch, RFQ, nhắc nợ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051560"/>
            <a:ext cx="1828800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1430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4B8A6"/>
                </a:solidFill>
                <a:latin typeface="Be Vietnam Pro"/>
              </a:defRPr>
            </a:pPr>
            <a:r>
              <a:t>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417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B1, B2, B3</a:t>
            </a:r>
            <a:br/>
            <a:r>
              <a:t>(Cẩm nang Ch.10)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11091672" cy="685800"/>
          </a:xfrm>
          <a:prstGeom prst="roundRect">
            <a:avLst>
              <a:gd name="adj" fmla="val 7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697480"/>
            <a:ext cx="45720" cy="68580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F4444"/>
                </a:solidFill>
                <a:latin typeface="Inter"/>
              </a:defRPr>
            </a:pPr>
            <a:r>
              <a:t>Ràng buộc riêng phòng này:  Không dán giá vốn, số dư TK, tờ khai → chỉ dùng tỷ lệ/%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14 / 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F233A"/>
                </a:solidFill>
                <a:latin typeface="Be Vietnam Pro"/>
              </a:defRPr>
            </a:pPr>
            <a:r>
              <a:t>Gợi ý: Kinh doanh &amp; Marketing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749039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59E0B"/>
                </a:solidFill>
                <a:latin typeface="Be Vietnam Pro"/>
              </a:defRPr>
            </a:pPr>
            <a:r>
              <a:t>TÁC VỤ MẪU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Báo giá, caption sản phẩm, email CSKH, trả lời khiếu nại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051560"/>
            <a:ext cx="1828800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1430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F59E0B"/>
                </a:solidFill>
                <a:latin typeface="Be Vietnam Pro"/>
              </a:defRPr>
            </a:pPr>
            <a:r>
              <a:t>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417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C1, C2, C3, C4</a:t>
            </a:r>
            <a:br/>
            <a:r>
              <a:t>(Cẩm nang Ch.10)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11091672" cy="685800"/>
          </a:xfrm>
          <a:prstGeom prst="roundRect">
            <a:avLst>
              <a:gd name="adj" fmla="val 7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697480"/>
            <a:ext cx="45720" cy="68580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F4444"/>
                </a:solidFill>
                <a:latin typeface="Inter"/>
              </a:defRPr>
            </a:pPr>
            <a:r>
              <a:t>Ràng buộc riêng phòng này:  Cam kết với khách phải dựa trên hồ sơ thật — AI chỉ soạn lời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15 / 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F233A"/>
                </a:solidFill>
                <a:latin typeface="Be Vietnam Pro"/>
              </a:defRPr>
            </a:pPr>
            <a:r>
              <a:t>Gợi ý: QC &amp; Sản xuất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749039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6A34A"/>
                </a:solidFill>
                <a:latin typeface="Be Vietnam Pro"/>
              </a:defRPr>
            </a:pPr>
            <a:r>
              <a:t>TÁC VỤ MẪU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Báo cáo kiểm tra lô, viết SOP, biên bản sự cố, hướng dẫn công đoạn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051560"/>
            <a:ext cx="1828800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1430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6A34A"/>
                </a:solidFill>
                <a:latin typeface="Be Vietnam Pro"/>
              </a:defRPr>
            </a:pPr>
            <a:r>
              <a:t>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417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D1, D2</a:t>
            </a:r>
            <a:br/>
            <a:r>
              <a:t>(Cẩm nang Ch.10)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11091672" cy="685800"/>
          </a:xfrm>
          <a:prstGeom prst="roundRect">
            <a:avLst>
              <a:gd name="adj" fmla="val 7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697480"/>
            <a:ext cx="45720" cy="68580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F4444"/>
                </a:solidFill>
                <a:latin typeface="Inter"/>
              </a:defRPr>
            </a:pPr>
            <a:r>
              <a:t>Ràng buộc riêng phòng này:  Số liệu kiểm nghiệm, chỉ tiêu, hạn dùng lấy từ hồ sơ QC — không để AI đoán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16 / 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F233A"/>
                </a:solidFill>
                <a:latin typeface="Be Vietnam Pro"/>
              </a:defRPr>
            </a:pPr>
            <a:r>
              <a:t>Gợi ý: Kho &amp; Kỹ thuật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749039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334155"/>
                </a:solidFill>
                <a:latin typeface="Be Vietnam Pro"/>
              </a:defRPr>
            </a:pPr>
            <a:r>
              <a:t>TÁC VỤ MẪU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Phiếu yêu cầu cung cấp, biên bản bàn giao, mô tả sự cố máy, đề xuất mua vật tư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051560"/>
            <a:ext cx="1828800" cy="14630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14300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334155"/>
                </a:solidFill>
                <a:latin typeface="Be Vietnam Pro"/>
              </a:defRPr>
            </a:pPr>
            <a:r>
              <a:t>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4173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E1, E3 + B3</a:t>
            </a:r>
            <a:br/>
            <a:r>
              <a:t>(Cẩm nang Ch.10)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97480"/>
            <a:ext cx="11091672" cy="685800"/>
          </a:xfrm>
          <a:prstGeom prst="roundRect">
            <a:avLst>
              <a:gd name="adj" fmla="val 7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697480"/>
            <a:ext cx="45720" cy="68580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F4444"/>
                </a:solidFill>
                <a:latin typeface="Inter"/>
              </a:defRPr>
            </a:pPr>
            <a:r>
              <a:t>Ràng buộc riêng phòng này:  Mã hàng, định mức, thông số máy đối chiếu sổ kho/hồ sơ thiết bị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17 / 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Dữ liệu nào phải ẩn trước khi dán vào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94A3B8"/>
                </a:solidFill>
                <a:latin typeface="Inter"/>
              </a:defRPr>
            </a:pPr>
            <a:r>
              <a:t>Ẩn dữ liệu không làm giảm chất lượng bản nháp — AI soạn lời hay mà không cần biết con số thật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56916.0" y="1188720"/>
          <a:ext cx="66751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389120"/>
              </a:tblGrid>
              <a:tr h="37882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Be Vietnam Pro"/>
                        </a:defRPr>
                      </a:pPr>
                      <a:r>
                        <a:t>Loại dữ liệu</a:t>
                      </a:r>
                    </a:p>
                  </a:txBody>
                  <a:tcPr anchor="ctr" marT="50800" marB="50800" marL="76200" marR="76200">
                    <a:solidFill>
                      <a:srgbClr val="0F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Be Vietnam Pro"/>
                        </a:defRPr>
                      </a:pPr>
                      <a:r>
                        <a:t>Cách ẩn</a:t>
                      </a:r>
                    </a:p>
                  </a:txBody>
                  <a:tcPr anchor="ctr" marT="50800" marB="50800" marL="76200" marR="76200">
                    <a:solidFill>
                      <a:srgbClr val="0F233A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ctr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Tên khách hàng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"Khách A", "Đại lý miền Bắc"</a:t>
                      </a:r>
                    </a:p>
                  </a:txBody>
                  <a:tcPr anchor="ctr" marT="38100" marB="38100" marL="76200" marR="76200"/>
                </a:tc>
              </a:tr>
              <a:tr h="378822">
                <a:tc>
                  <a:txBody>
                    <a:bodyPr wrap="square"/>
                    <a:lstStyle/>
                    <a:p>
                      <a:pPr algn="ctr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Số tiền thật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Tỷ lệ %, hoặc "X đồng"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ctr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CCCD / mã số thuế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Xóa hẳn</a:t>
                      </a:r>
                    </a:p>
                  </a:txBody>
                  <a:tcPr anchor="ctr" marT="38100" marB="38100" marL="76200" marR="76200"/>
                </a:tc>
              </a:tr>
              <a:tr h="378822">
                <a:tc>
                  <a:txBody>
                    <a:bodyPr wrap="square"/>
                    <a:lstStyle/>
                    <a:p>
                      <a:pPr algn="ctr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Công thức sản phẩm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"Sản phẩm sấy giòn vị mật ong"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</a:tr>
              <a:tr h="378822">
                <a:tc>
                  <a:txBody>
                    <a:bodyPr wrap="square"/>
                    <a:lstStyle/>
                    <a:p>
                      <a:pPr algn="ctr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Danh sách nhân viên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Số lượng + vị trí, không tên</a:t>
                      </a:r>
                    </a:p>
                  </a:txBody>
                  <a:tcPr anchor="ctr" marT="38100" marB="38100" marL="76200" marR="76200"/>
                </a:tc>
              </a:tr>
              <a:tr h="378828">
                <a:tc>
                  <a:txBody>
                    <a:bodyPr wrap="square"/>
                    <a:lstStyle/>
                    <a:p>
                      <a:pPr algn="ctr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Giá vốn / báo giá mật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"Phân khúc trung cấp", ẩn con số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18 /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3A"/>
                </a:solidFill>
                <a:latin typeface="Be Vietnam Pro"/>
              </a:defRPr>
            </a:pPr>
            <a:r>
              <a:t>Khi nào KHÔNG nên dùng AI cho tác vụ này?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94A3B8"/>
                </a:solidFill>
                <a:latin typeface="Inter"/>
              </a:defRPr>
            </a:pPr>
            <a:r>
              <a:t>4 câu tự vấn — in vào trang 3 của bản rút gọn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62456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Cần chính xác tuyệt đối từng con số?  →  làm tay hoặc chỉ dùng AI phần dàn 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92808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Chưa có dữ liệu để cung cấp?  →  AI sẽ bịa để lấp chỗ trống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23160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951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Người ký sẽ không kiểm được?  →  không giao cho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53511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25495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Liên quan bí mật kinh doanh nặng?  →  không dán vào tài khoản cá nhân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83864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5584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Nếu có ≥ 1 câu "có" → cân nhắc không dùng AI cho tác vụ đó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19 / 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Phản biện chéo  —  15 phút  (bắt đầu phút 25 của breakout)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514344" cy="25603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57172" y="1170432"/>
            <a:ext cx="1097280" cy="256032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57172" y="11704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Be Vietnam Pro"/>
              </a:defRPr>
            </a:pPr>
            <a:r>
              <a:t>Bàn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314858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850" b="0" i="0">
                <a:solidFill>
                  <a:srgbClr val="334155"/>
                </a:solidFill>
                <a:latin typeface="Inter"/>
              </a:defRPr>
            </a:pPr>
            <a:r>
              <a:t>Cử 1 người</a:t>
            </a:r>
            <a:br/>
            <a:r>
              <a:t>mang template</a:t>
            </a:r>
            <a:br/>
            <a:r>
              <a:t>sang bàn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81272" y="210312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CBD5E1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7304" y="1051560"/>
            <a:ext cx="3514344" cy="25603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45836" y="1170432"/>
            <a:ext cx="1097280" cy="256032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45836" y="11704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Be Vietnam Pro"/>
              </a:defRPr>
            </a:pPr>
            <a:r>
              <a:t>Bàn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0184" y="1600200"/>
            <a:ext cx="314858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850" b="0" i="0">
                <a:solidFill>
                  <a:srgbClr val="334155"/>
                </a:solidFill>
                <a:latin typeface="Inter"/>
              </a:defRPr>
            </a:pPr>
            <a:r>
              <a:t>Đóng vai phản biện:</a:t>
            </a:r>
            <a:br/>
            <a:r>
              <a:t>chỉ ra 3 lỗ hổng</a:t>
            </a:r>
            <a:br/>
            <a:r>
              <a:t>— thiếu ràng buộc?</a:t>
            </a:r>
            <a:br/>
            <a:r>
              <a:t>còn dữ liệu cấm?</a:t>
            </a:r>
            <a:br/>
            <a:r>
              <a:t>định dạng mờ?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9936" y="2103120"/>
            <a:ext cx="237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CBD5E1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5968" y="1051560"/>
            <a:ext cx="3514344" cy="256032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34500" y="1170432"/>
            <a:ext cx="1097280" cy="256032"/>
          </a:xfrm>
          <a:prstGeom prst="roundRect">
            <a:avLst>
              <a:gd name="adj" fmla="val 7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4500" y="11704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Be Vietnam Pro"/>
              </a:defRPr>
            </a:pPr>
            <a:r>
              <a:t>Quay về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8848" y="1600200"/>
            <a:ext cx="314858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"/>
              </a:lnSpc>
              <a:defRPr sz="850" b="0" i="0">
                <a:solidFill>
                  <a:srgbClr val="334155"/>
                </a:solidFill>
                <a:latin typeface="Inter"/>
              </a:defRPr>
            </a:pPr>
            <a:r>
              <a:t>Sửa template</a:t>
            </a:r>
            <a:br/>
            <a:r>
              <a:t>theo phản biện</a:t>
            </a:r>
            <a:br/>
            <a:r>
              <a:t>— bàn trưởng phòng</a:t>
            </a:r>
            <a:br/>
            <a:r>
              <a:t>chốt bản cuối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64748B"/>
                </a:solidFill>
                <a:latin typeface="Inter"/>
              </a:defRPr>
            </a:pPr>
            <a:r>
              <a:t>"Tìm lỗi của nhau là cách học nhanh nhất — không phải thi đua."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20 / 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Nộp bài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24712"/>
            <a:ext cx="164592" cy="164592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124712"/>
            <a:ext cx="164592" cy="164592"/>
          </a:xfrm>
          <a:prstGeom prst="roundRect">
            <a:avLst>
              <a:gd name="adj" fmla="val 7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06424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4155"/>
                </a:solidFill>
                <a:latin typeface="Inter"/>
              </a:defRPr>
            </a:pPr>
            <a:r>
              <a:t>Mỗi phòng nộp 1 template vào thư mục chung theo phòng ban (Google Drive)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64592" cy="164592"/>
          </a:xfrm>
          <a:prstGeom prst="roundRect">
            <a:avLst>
              <a:gd name="adj" fmla="val 7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90472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4356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4155"/>
                </a:solidFill>
                <a:latin typeface="Inter"/>
              </a:defRPr>
            </a:pPr>
            <a:r>
              <a:t>Trưởng phòng ký xác nhận đạt rubric (mức 3 trở lên cả 4 tiêu chí)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892808"/>
            <a:ext cx="164592" cy="164592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1892808"/>
            <a:ext cx="164592" cy="164592"/>
          </a:xfrm>
          <a:prstGeom prst="roundRect">
            <a:avLst>
              <a:gd name="adj" fmla="val 7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874520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1965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4155"/>
                </a:solidFill>
                <a:latin typeface="Inter"/>
              </a:defRPr>
            </a:pPr>
            <a:r>
              <a:t>Trưởng phòng là người duyệt — không phải giảng viên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276856"/>
            <a:ext cx="164592" cy="164592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276856"/>
            <a:ext cx="164592" cy="164592"/>
          </a:xfrm>
          <a:prstGeom prst="roundRect">
            <a:avLst>
              <a:gd name="adj" fmla="val 7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258568"/>
            <a:ext cx="1645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Inter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20370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34155"/>
                </a:solidFill>
                <a:latin typeface="Inter"/>
              </a:defRPr>
            </a:pPr>
            <a:r>
              <a:t>Template được duyệt sẽ đưa vào thư viện chung để cả công ty dùng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21 / 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4B8A6"/>
                </a:solidFill>
                <a:latin typeface="Be Vietnam Pro"/>
              </a:defRPr>
            </a:pPr>
            <a:r>
              <a:t>PHẦN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233A"/>
                </a:solidFill>
                <a:latin typeface="Be Vietnam Pro"/>
              </a:defRPr>
            </a:pPr>
            <a:r>
              <a:t>Tạo ảnh minh họa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  <a:latin typeface="Inter"/>
              </a:defRPr>
            </a:pPr>
            <a:r>
              <a:t>13 phút  ·  Cấu trúc prompt  ·  Demo live  ·  3 giới hạn  ·  Ranh giới đỏ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40280"/>
            <a:ext cx="164592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Tạo ảnh — cấu trúc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94A3B8"/>
                </a:solidFill>
                <a:latin typeface="Inter"/>
              </a:defRPr>
            </a:pPr>
            <a:r>
              <a:t>Quy ước nội bộ để dễ nhớ — không phải spec chính thức của hãng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4B8A6"/>
                </a:solidFill>
                <a:latin typeface="Be Vietnam Pro"/>
              </a:defRPr>
            </a:pPr>
            <a:r>
              <a:t>[ Chủ thể ]  +  [ Bối cảnh ]  +  [ Phong cách ]  +  [ Ánh sáng / Màu ]  +  [ Tỷ lệ ]  +  [ Điều loại trừ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623560" cy="1234440"/>
          </a:xfrm>
          <a:prstGeom prst="roundRect">
            <a:avLst>
              <a:gd name="adj" fmla="val 7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5349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16A34A"/>
                </a:solidFill>
                <a:latin typeface="Be Vietnam Pro"/>
              </a:defRPr>
            </a:pPr>
            <a:r>
              <a:t>VÍ DỤ HAY 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21408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50" b="0" i="0">
                <a:solidFill>
                  <a:srgbClr val="334155"/>
                </a:solidFill>
                <a:latin typeface="Inter"/>
              </a:defRPr>
            </a:pPr>
            <a:r>
              <a:t>"Túi mít sấy 100g trên bàn gỗ sáng, cạnh vài lát mít tươi và lọ mật ong nhỏ, tối giản, ánh sáng tự nhiên ấm, nền mờ, 4:5, không chữ."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16752" y="1783080"/>
            <a:ext cx="5623560" cy="1234440"/>
          </a:xfrm>
          <a:prstGeom prst="roundRect">
            <a:avLst>
              <a:gd name="adj" fmla="val 7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53912" y="1874519"/>
            <a:ext cx="5349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 i="0">
                <a:solidFill>
                  <a:srgbClr val="EF4444"/>
                </a:solidFill>
                <a:latin typeface="Be Vietnam Pro"/>
              </a:defRPr>
            </a:pPr>
            <a:r>
              <a:t>VÍ DỤ DỞ  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3912" y="2121408"/>
            <a:ext cx="5349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750" b="0" i="0">
                <a:solidFill>
                  <a:srgbClr val="334155"/>
                </a:solidFill>
                <a:latin typeface="Inter"/>
              </a:defRPr>
            </a:pPr>
            <a:r>
              <a:t>"Tạo ảnh mít sấy đẹp."</a:t>
            </a:r>
            <a:br/>
            <a:r>
              <a:t>→ Chung chung, AI cho ra ảnh ngẫu nhiên, khó dùng.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23 / 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Ba giới hạn thực tế của ảnh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514344" cy="29260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3514344" cy="4572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240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59E0B"/>
                </a:solidFill>
                <a:latin typeface="Be Vietnam Pro"/>
              </a:defRPr>
            </a:pPr>
            <a:r>
              <a:t>Chữ trong ảnh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45920"/>
            <a:ext cx="329488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0" i="0">
                <a:solidFill>
                  <a:srgbClr val="334155"/>
                </a:solidFill>
                <a:latin typeface="Inter"/>
              </a:defRPr>
            </a:pPr>
            <a:r>
              <a:t>Tiếng Việt có dấu hay lệch dấu; chữ càng dài càng dễ sai</a:t>
            </a:r>
            <a:br/>
            <a:r>
              <a:t>(kinh nghiệm cộng đồng, không phải spec hãng)</a:t>
            </a:r>
            <a:br/>
            <a:r>
              <a:t>→ Xử lý an toàn: tạo ảnh KHÔNG chữ, ghép chữ bằng Canva/PowerPoint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7304" y="1051560"/>
            <a:ext cx="3514344" cy="29260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37304" y="1051560"/>
            <a:ext cx="3514344" cy="4572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4464" y="1234440"/>
            <a:ext cx="3240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EF4444"/>
                </a:solidFill>
                <a:latin typeface="Be Vietnam Pro"/>
              </a:defRPr>
            </a:pPr>
            <a:r>
              <a:t>Logo &amp; sản phẩm thật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7032" y="1645920"/>
            <a:ext cx="329488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0" i="0">
                <a:solidFill>
                  <a:srgbClr val="334155"/>
                </a:solidFill>
                <a:latin typeface="Inter"/>
              </a:defRPr>
            </a:pPr>
            <a:r>
              <a:t>AI vẽ lại logo sẽ ra bản gần giống nhưng sai</a:t>
            </a:r>
            <a:br/>
            <a:r>
              <a:t>→ Không dùng ảnh AI làm file in bao bì</a:t>
            </a:r>
            <a:br/>
            <a:r>
              <a:t>Dùng ảnh chụp thật, chỉ nhờ AI tạo bối cảnh xung quanh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5968" y="1051560"/>
            <a:ext cx="3514344" cy="29260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25968" y="1051560"/>
            <a:ext cx="3514344" cy="4572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3128" y="1234440"/>
            <a:ext cx="3240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14B8A6"/>
                </a:solidFill>
                <a:latin typeface="Be Vietnam Pro"/>
              </a:defRPr>
            </a:pPr>
            <a:r>
              <a:t>Tên model hiện nay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5696" y="1645920"/>
            <a:ext cx="329488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0" i="0">
                <a:solidFill>
                  <a:srgbClr val="334155"/>
                </a:solidFill>
                <a:latin typeface="Inter"/>
              </a:defRPr>
            </a:pPr>
            <a:r>
              <a:t>ChatGPT: GPT Image (gpt-image-1/1.5/2, kế nhiệm DALL·E)</a:t>
            </a:r>
            <a:br/>
            <a:r>
              <a:t>Gemini: Nano Banana (native trong hội thoại)</a:t>
            </a:r>
            <a:br/>
            <a:r>
              <a:t>Khác với Imagen trên Vertex AI — tính năng đổi nhanh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51960"/>
            <a:ext cx="11091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94A3B8"/>
                </a:solidFill>
                <a:latin typeface="Inter"/>
              </a:defRPr>
            </a:pPr>
            <a:r>
              <a:t>Kiểm tra lại mỗi kỳ rà soát quý — mục tạo ảnh xuống cấp nhanh nhất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24 / 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Demo live — tạo ảnh minh họa sản phẩm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94A3B8"/>
                </a:solidFill>
                <a:latin typeface="Inter"/>
              </a:defRPr>
            </a:pPr>
            <a:r>
              <a:t>Gõ prompt mít sấy (Cẩm nang 8.1) → cho xem kết quả → nói "Đổi nền thành màu be sáng" để chỉnh tiếp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91672" cy="10058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4864" cy="100584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98448"/>
            <a:ext cx="106344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  <a:defRPr sz="800" b="0" i="0">
                <a:solidFill>
                  <a:srgbClr val="334155"/>
                </a:solidFill>
                <a:latin typeface="Consolas"/>
              </a:defRPr>
            </a:pPr>
            <a:r>
              <a:t>"Túi mít sấy giòn 100g trên bàn gỗ sáng, cạnh vài lát mít tươi và lọ mật ong nhỏ, tối giản, ánh sáng tự nhiên ấm, nền mờ, 4:5, không chữ trên bao bì."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2316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Tỷ lệ:  16:9 slide  ·  1:1 bài vuông  ·  4:5 ảnh dọc  ·  9:16 Reels     —     Gemini hỗ trợ trực tiếp; với ChatGPT, 4:5 thường phải crop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2563EB"/>
                </a:solidFill>
                <a:latin typeface="Inter"/>
              </a:defRPr>
            </a:pPr>
            <a:r>
              <a:t>Chỉnh bằng lời:  "Giữ nguyên bố cục, đổi nền thành màu be sáng, thêm đĩa tre nhỏ bên cạnh."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F59E0B"/>
                </a:solidFill>
                <a:latin typeface="Inter"/>
              </a:defRPr>
            </a:pPr>
            <a:r>
              <a:t>Hỏi cả lớp: "Ảnh này dùng đăng Facebook được chưa? Còn thiếu gì?"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3520440"/>
            <a:ext cx="3931920" cy="2011680"/>
          </a:xfrm>
          <a:prstGeom prst="roundRect">
            <a:avLst>
              <a:gd name="adj" fmla="val 7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42976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94A3B8"/>
                </a:solidFill>
                <a:latin typeface="Inter"/>
              </a:defRPr>
            </a:pPr>
            <a:r>
              <a:t>[ Chèn ảnh AI vừa tạo live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25 / 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F4444"/>
                </a:solidFill>
                <a:latin typeface="Be Vietnam Pro"/>
              </a:defRPr>
            </a:pPr>
            <a:r>
              <a:t>Ranh giới đỏ với ảnh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514344" cy="1737360"/>
          </a:xfrm>
          <a:prstGeom prst="roundRect">
            <a:avLst>
              <a:gd name="adj" fmla="val 7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22932" y="1188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EF4444"/>
                </a:solidFill>
                <a:latin typeface="Inter"/>
              </a:defRPr>
            </a:pPr>
            <a:r>
              <a:t>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32400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800" b="1" i="0">
                <a:solidFill>
                  <a:srgbClr val="EF4444"/>
                </a:solidFill>
                <a:latin typeface="Be Vietnam Pro"/>
              </a:defRPr>
            </a:pPr>
            <a:r>
              <a:t>KHÔNG dùng cho</a:t>
            </a:r>
            <a:br/>
            <a:r>
              <a:t>bao bì chính thức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3240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AI tạo chi tiết</a:t>
            </a:r>
            <a:br/>
            <a:r>
              <a:t>sai lệch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7304" y="1051560"/>
            <a:ext cx="3514344" cy="1737360"/>
          </a:xfrm>
          <a:prstGeom prst="roundRect">
            <a:avLst>
              <a:gd name="adj" fmla="val 7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11596" y="1188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EF4444"/>
                </a:solidFill>
                <a:latin typeface="Inter"/>
              </a:defRPr>
            </a:pPr>
            <a:r>
              <a:t>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4464" y="1600200"/>
            <a:ext cx="32400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800" b="1" i="0">
                <a:solidFill>
                  <a:srgbClr val="EF4444"/>
                </a:solidFill>
                <a:latin typeface="Be Vietnam Pro"/>
              </a:defRPr>
            </a:pPr>
            <a:r>
              <a:t>KHÔNG dùng cho</a:t>
            </a:r>
            <a:br/>
            <a:r>
              <a:t>chứng nhận chất lượng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4464" y="2240280"/>
            <a:ext cx="3240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Gây hiểu lầm</a:t>
            </a:r>
            <a:br/>
            <a:r>
              <a:t>khách hàng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5968" y="1051560"/>
            <a:ext cx="3514344" cy="1737360"/>
          </a:xfrm>
          <a:prstGeom prst="roundRect">
            <a:avLst>
              <a:gd name="adj" fmla="val 7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00260" y="1188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EF4444"/>
                </a:solidFill>
                <a:latin typeface="Inter"/>
              </a:defRPr>
            </a:pPr>
            <a:r>
              <a:t>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3128" y="1600200"/>
            <a:ext cx="32400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800" b="1" i="0">
                <a:solidFill>
                  <a:srgbClr val="EF4444"/>
                </a:solidFill>
                <a:latin typeface="Be Vietnam Pro"/>
              </a:defRPr>
            </a:pPr>
            <a:r>
              <a:t>KHÔNG dùng cho</a:t>
            </a:r>
            <a:br/>
            <a:r>
              <a:t>quảng cáo cam kết</a:t>
            </a:r>
            <a:br/>
            <a:r>
              <a:t>thành phần / xuất xứ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3128" y="2240280"/>
            <a:ext cx="3240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Vướng quy định</a:t>
            </a:r>
            <a:br/>
            <a:r>
              <a:t>nhãn hàng hóa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6324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 i="1">
                <a:solidFill>
                  <a:srgbClr val="64748B"/>
                </a:solidFill>
                <a:latin typeface="Inter"/>
              </a:defRPr>
            </a:pPr>
            <a:r>
              <a:t>Nếu dùng ảnh AI cho mạng xã hội / truyền thông nội bộ → ghi "Ảnh minh họa" — phù hợp Luật Trí tuệ nhân tạo (nghĩa vụ gắn nhãn) và chính sách hãng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2900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1">
                <a:solidFill>
                  <a:srgbClr val="94A3B8"/>
                </a:solidFill>
                <a:latin typeface="Inter"/>
              </a:defRPr>
            </a:pPr>
            <a:r>
              <a:t>Đây là quy định nội bộ của công ty, có cơ sở từ chính sách hãng và pháp luật — không phải trích dẫn nguyên văn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26 / 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Post-test — 5 phút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94A3B8"/>
                </a:solidFill>
                <a:latin typeface="Inter"/>
              </a:defRPr>
            </a:pPr>
            <a:r>
              <a:t>10 câu giống hệt pre-test — đo mức tăng (gain)  ·  Không tính điểm thi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325880"/>
            <a:ext cx="210312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1488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900" b="0" i="0">
                <a:solidFill>
                  <a:srgbClr val="94A3B8"/>
                </a:solidFill>
                <a:latin typeface="Inter"/>
              </a:defRPr>
            </a:pPr>
            <a:r>
              <a:t>[ QR Code ]</a:t>
            </a:r>
            <a:br/>
            <a:r>
              <a:t>Google Form Post-test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64748B"/>
                </a:solidFill>
                <a:latin typeface="Inter"/>
              </a:defRPr>
            </a:pPr>
            <a:r>
              <a:t>"Không tính điểm — làm để chính bạn thấy mình tiến bộ cỡ nào."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27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Tổng kết — 4 điều mang về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2635758" cy="19202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2635758" cy="457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245287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50" b="1" i="0">
                <a:solidFill>
                  <a:srgbClr val="2563EB"/>
                </a:solidFill>
                <a:latin typeface="Be Vietnam Pro"/>
              </a:defRPr>
            </a:pPr>
            <a:r>
              <a:t>5 thành tố</a:t>
            </a:r>
            <a:br/>
            <a:r>
              <a:t>(quy ước nội bộ)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245287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0" i="0">
                <a:solidFill>
                  <a:srgbClr val="334155"/>
                </a:solidFill>
                <a:latin typeface="Inter"/>
              </a:defRPr>
            </a:pPr>
            <a:r>
              <a:t>Vai trò · Bối cảnh</a:t>
            </a:r>
            <a:br/>
            <a:r>
              <a:t>Nhiệm vụ · Ràng buộc</a:t>
            </a:r>
            <a:br/>
            <a:r>
              <a:t>Định dạng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7278" y="1051560"/>
            <a:ext cx="2635758" cy="19202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67278" y="1051560"/>
            <a:ext cx="2635758" cy="4572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8718" y="1188720"/>
            <a:ext cx="245287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50" b="1" i="0">
                <a:solidFill>
                  <a:srgbClr val="14B8A6"/>
                </a:solidFill>
                <a:latin typeface="Be Vietnam Pro"/>
              </a:defRPr>
            </a:pPr>
            <a:r>
              <a:t>4 kỹ thuật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8718" y="1691640"/>
            <a:ext cx="245287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0" i="0">
                <a:solidFill>
                  <a:srgbClr val="334155"/>
                </a:solidFill>
                <a:latin typeface="Inter"/>
              </a:defRPr>
            </a:pPr>
            <a:r>
              <a:t>Đóng vai</a:t>
            </a:r>
            <a:br/>
            <a:r>
              <a:t>Đưa ngữ cảnh</a:t>
            </a:r>
            <a:br/>
            <a:r>
              <a:t>Cho ví dụ</a:t>
            </a:r>
            <a:br/>
            <a:r>
              <a:t>Chia nhỏ &amp; lặp lại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5916" y="1051560"/>
            <a:ext cx="2635758" cy="19202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85916" y="1051560"/>
            <a:ext cx="2635758" cy="4572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7356" y="1188720"/>
            <a:ext cx="245287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50" b="1" i="0">
                <a:solidFill>
                  <a:srgbClr val="16A34A"/>
                </a:solidFill>
                <a:latin typeface="Be Vietnam Pro"/>
              </a:defRPr>
            </a:pPr>
            <a:r>
              <a:t>Quy trình 4 bước</a:t>
            </a:r>
            <a:br/>
            <a:r>
              <a:t>+ Checklist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7356" y="1691640"/>
            <a:ext cx="245287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0" i="0">
                <a:solidFill>
                  <a:srgbClr val="334155"/>
                </a:solidFill>
                <a:latin typeface="Inter"/>
              </a:defRPr>
            </a:pPr>
            <a:r>
              <a:t>Bạn ra ý → AI nháp</a:t>
            </a:r>
            <a:br/>
            <a:r>
              <a:t>→ Bạn kiểm ★</a:t>
            </a:r>
            <a:br/>
            <a:r>
              <a:t>→ AI làm mịn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4554" y="1051560"/>
            <a:ext cx="2635758" cy="19202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04554" y="1051560"/>
            <a:ext cx="2635758" cy="45720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5994" y="1188720"/>
            <a:ext cx="245287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50" b="1" i="0">
                <a:solidFill>
                  <a:srgbClr val="EF4444"/>
                </a:solidFill>
                <a:latin typeface="Be Vietnam Pro"/>
              </a:defRPr>
            </a:pPr>
            <a:r>
              <a:t>5 điều cấm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5994" y="1691640"/>
            <a:ext cx="245287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0" i="0">
                <a:solidFill>
                  <a:srgbClr val="334155"/>
                </a:solidFill>
                <a:latin typeface="Inter"/>
              </a:defRPr>
            </a:pPr>
            <a:r>
              <a:t>CCCD/lương</a:t>
            </a:r>
            <a:br/>
            <a:r>
              <a:t>Giá vốn/công thức</a:t>
            </a:r>
            <a:br/>
            <a:r>
              <a:t>TK/MST/BCTC</a:t>
            </a:r>
            <a:br/>
            <a:r>
              <a:t>Giao AI quyết định</a:t>
            </a:r>
            <a:br/>
            <a:r>
              <a:t>Đăng khi chưa kiểm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28 / 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Hệ thống hỗ trợ sau đào tạo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78992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233A"/>
                </a:solidFill>
                <a:latin typeface="Be Vietnam Pro"/>
              </a:defRPr>
            </a:pPr>
            <a:r>
              <a:t>Owner chương trình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005840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[ Tên ] — sở hữu tài liệu, lịch cập nhật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08176"/>
            <a:ext cx="91440" cy="91440"/>
          </a:xfrm>
          <a:prstGeom prst="roundRect">
            <a:avLst>
              <a:gd name="adj" fmla="val 7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350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233A"/>
                </a:solidFill>
                <a:latin typeface="Be Vietnam Pro"/>
              </a:defRPr>
            </a:pPr>
            <a:r>
              <a:t>Champion mỗi phòng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335024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1 người thạo nhất/phòng — chỗ hỏi đầu tiên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37360"/>
            <a:ext cx="91440" cy="91440"/>
          </a:xfrm>
          <a:prstGeom prst="roundRect">
            <a:avLst>
              <a:gd name="adj" fmla="val 7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6420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233A"/>
                </a:solidFill>
                <a:latin typeface="Be Vietnam Pro"/>
              </a:defRPr>
            </a:pPr>
            <a:r>
              <a:t>Kênh hỏi đáp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1664208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Nhóm Zalo "Hỗ trợ AI — An Bình Foods" — trả lời trong 24h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066544"/>
            <a:ext cx="91440" cy="91440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99339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233A"/>
                </a:solidFill>
                <a:latin typeface="Be Vietnam Pro"/>
              </a:defRPr>
            </a:pPr>
            <a:r>
              <a:t>Office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1993392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30 phút, mỗi 2 tuần — kèm 1-1 cho ai gặp khó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95728"/>
            <a:ext cx="91440" cy="91440"/>
          </a:xfrm>
          <a:prstGeom prst="roundRect">
            <a:avLst>
              <a:gd name="adj" fmla="val 7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3225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233A"/>
                </a:solidFill>
                <a:latin typeface="Be Vietnam Pro"/>
              </a:defRPr>
            </a:pPr>
            <a:r>
              <a:t>Showcase hàng tháng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322576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1 ca hay được chia sẻ trên nhóm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724911"/>
            <a:ext cx="91440" cy="91440"/>
          </a:xfrm>
          <a:prstGeom prst="roundRect">
            <a:avLst>
              <a:gd name="adj" fmla="val 7000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651759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233A"/>
                </a:solidFill>
                <a:latin typeface="Be Vietnam Pro"/>
              </a:defRPr>
            </a:pPr>
            <a:r>
              <a:t>Thư viện template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2651759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Google Drive theo phòng ban — trưởng phòng duyệt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054096"/>
            <a:ext cx="91440" cy="91440"/>
          </a:xfrm>
          <a:prstGeom prst="roundRect">
            <a:avLst>
              <a:gd name="adj" fmla="val 7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9809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233A"/>
                </a:solidFill>
                <a:latin typeface="Be Vietnam Pro"/>
              </a:defRPr>
            </a:pPr>
            <a:r>
              <a:t>Video xem lại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2980944"/>
            <a:ext cx="8503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3 video ngắn: đăng ký / prompt 5 thành tố / tạo ảnh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6576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64748B"/>
                </a:solidFill>
                <a:latin typeface="Inter"/>
              </a:defRPr>
            </a:pPr>
            <a:r>
              <a:t>"Buổi học kết thúc, nhưng quá trình áp dụng mới bắt đầu. Cái làm hỏng đào tạo là im lặng sau khi về bàn."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29 / 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Be Vietnam Pro"/>
              </a:defRPr>
            </a:pPr>
            <a:r>
              <a:t>Cảm ơn!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40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3C5FD"/>
                </a:solidFill>
                <a:latin typeface="Inter"/>
              </a:defRPr>
            </a:pPr>
            <a:r>
              <a:t>Phát:  Cẩm nang in  ·  Thẻ Prompt bỏ túi  ·  Bản rút gọn 4 trang chữ 14pt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94A3B8"/>
                </a:solidFill>
                <a:latin typeface="Inter"/>
              </a:defRPr>
            </a:pPr>
            <a:r>
              <a:t>Khảo sát hài lòng  ·  QR code dán ở cửa phòng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80076" y="306324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80076" y="374903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4A3B8"/>
                </a:solidFill>
                <a:latin typeface="Inter"/>
              </a:defRPr>
            </a:pPr>
            <a:r>
              <a:t>[ QR khảo sát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0807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 i="0">
                <a:solidFill>
                  <a:srgbClr val="94A3B8"/>
                </a:solidFill>
                <a:latin typeface="Inter"/>
              </a:defRPr>
            </a:pPr>
            <a:r>
              <a:t>Liên hệ:  [ Tên  ·  SĐT  ·  Email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