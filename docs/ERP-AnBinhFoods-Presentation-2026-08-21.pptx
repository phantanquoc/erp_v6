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presentationPr>
    <p:showPr loop="1" showType="kiosk"/>
  </p:presentationPr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11480"/>
            <a:ext cx="4846320" cy="5074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03720" y="411480"/>
            <a:ext cx="4846320" cy="50749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822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93C5FD"/>
                </a:solidFill>
                <a:latin typeface="Inter"/>
              </a:defRPr>
            </a:pPr>
            <a:r>
              <a:t>AN BINH FOODS  •  ERP V6  •  INTELLIGENT MANUFACTURING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400" b="1" i="0">
                <a:solidFill>
                  <a:srgbClr val="FFFFFF"/>
                </a:solidFill>
                <a:latin typeface="Inter"/>
              </a:defRPr>
            </a:pPr>
            <a:r>
              <a:t>Từ mẻ chiên tới</a:t>
            </a:r>
            <a:br/>
            <a:r>
              <a:t>thành phẩm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1284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59E0B"/>
                </a:solidFill>
                <a:latin typeface="Inter"/>
              </a:defRPr>
            </a:pPr>
            <a:r>
              <a:t>mọi thứ được kết nối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0779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3C5FD"/>
                </a:solidFill>
                <a:latin typeface="Inter"/>
              </a:defRPr>
            </a:pPr>
            <a:r>
              <a:t>Intelligent Manufacturing Platform  •  cho nhà sản xuất trái cây sấy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850" b="0" i="0">
                <a:solidFill>
                  <a:srgbClr val="E2E8F0"/>
                </a:solidFill>
                <a:latin typeface="Inter"/>
              </a:defRPr>
            </a:pPr>
            <a:r>
              <a:t>Truy vết mẻ chiên  •  Kho kiện FIFO  •  Bảo trì theo kế hoạch</a:t>
            </a:r>
            <a:br/>
            <a:r>
              <a:t>AI hiểu ngữ cảnh xưởng  •  Kiosk khuôn mặt tại xưởng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51960"/>
            <a:ext cx="306324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233A"/>
                </a:solidFill>
                <a:latin typeface="Inter"/>
              </a:defRPr>
            </a:pPr>
            <a:r>
              <a:t>Sấy thông minh, quản lý liền mạch</a:t>
            </a:r>
          </a:p>
        </p:txBody>
      </p:sp>
      <p:pic>
        <p:nvPicPr>
          <p:cNvPr id="11" name="Picture 10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64608"/>
            <a:ext cx="906597" cy="47548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0292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  <a:latin typeface="Inter"/>
              </a:defRPr>
            </a:pPr>
            <a:r>
              <a:t>www.anbinhfoods.vn  •  Gian hàng [số]  —  Gặp chúng tôi để xem kiosk và mẻ chiên trực tiếp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6424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07592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08760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09928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11095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12264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13432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14600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15768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16936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18104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19272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39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21608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22776" y="583387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advOnClk="0" advTm="10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846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AGENDA  •  15 PHÚT  •  6 PHẦN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F233A"/>
                </a:solidFill>
                <a:latin typeface="Inter"/>
              </a:defRPr>
            </a:pPr>
            <a:r>
              <a:t>Hôm nay chúng ta sẽ đi qua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33A"/>
                </a:solidFill>
                <a:latin typeface="Inter"/>
              </a:defRPr>
            </a:pPr>
            <a:r>
              <a:t>Vấn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Vì sao Excel không đủ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07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59" y="150876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19" y="1645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19" y="19019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33A"/>
                </a:solidFill>
                <a:latin typeface="Inter"/>
              </a:defRPr>
            </a:pPr>
            <a:r>
              <a:t>Giải pháp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19" y="2267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5 trụ cột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19" y="2907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8" y="150876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38" y="1645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8" y="19019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33A"/>
                </a:solidFill>
                <a:latin typeface="Inter"/>
              </a:defRPr>
            </a:pPr>
            <a:r>
              <a:t>Dòng chảy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8" y="2267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Từ báo giá tới thành phẩm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38" y="2907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197" y="150876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7" y="1645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7" y="19019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33A"/>
                </a:solidFill>
                <a:latin typeface="Inter"/>
              </a:defRPr>
            </a:pPr>
            <a:r>
              <a:t>Manufacturing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7" y="2267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Mẻ chiên &amp; 8-grade yield  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7" y="2907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6" y="150876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6" y="1645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6" y="19019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33A"/>
                </a:solidFill>
                <a:latin typeface="Inter"/>
              </a:defRPr>
            </a:pPr>
            <a:r>
              <a:t>AI + 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6" y="2267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Kiosk và trợ lý xưởng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6" y="2907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35" y="1508760"/>
            <a:ext cx="169164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395" y="1645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395" y="19019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33A"/>
                </a:solidFill>
                <a:latin typeface="Inter"/>
              </a:defRPr>
            </a:pPr>
            <a:r>
              <a:t>Nền tảng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5" y="22677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Công nghệ, kiến trúc, bảo mật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395" y="29077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063240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186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Inter"/>
              </a:defRPr>
            </a:pPr>
            <a:r>
              <a:t>Trọng tâm: Manufacturing  ★  •  Demo kiosk + ChatWidget tại gian hàng sau trình bày  •  Q&amp;A 5 phút  •  15 phút thuyết trình + 5 phút demo + 5 phút Q&amp;A</a:t>
            </a:r>
          </a:p>
        </p:txBody>
      </p:sp>
      <p:pic>
        <p:nvPicPr>
          <p:cNvPr id="37" name="Picture 36" descr="moc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657600"/>
            <a:ext cx="8138160" cy="105156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011680" y="3657600"/>
            <a:ext cx="8138160" cy="10515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8000" spd="med">
    <p:push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846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Inter"/>
              </a:defRPr>
            </a:pPr>
            <a: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Inter"/>
              </a:defRPr>
            </a:pPr>
            <a:r>
              <a:t>Quản lý nhà máy sấy bằng Excel — đã đến lúc thay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4748B"/>
                </a:solidFill>
                <a:latin typeface="Inter"/>
              </a:defRPr>
            </a:pPr>
            <a:r>
              <a:t>Khi mẻ chiên không có dữ liệu, mọi quyết định đều là ước đoán.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 i="0">
                <a:solidFill>
                  <a:srgbClr val="0F233A"/>
                </a:solidFill>
                <a:latin typeface="Inter"/>
              </a:defRPr>
            </a:pPr>
            <a:r>
              <a:t>Truy vết mẻ chiên</a:t>
            </a:r>
            <a:br/>
            <a:r>
              <a:t>thủ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06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Mã mẻ ghi tay, không xuyên suốt từ nguyên liệu tới thành phẩm.</a:t>
            </a:r>
            <a:br/>
            <a:r>
              <a:t>Truy nguyên lô lỗi mất ngày lần sổ sách.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9019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8716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 i="0">
                <a:solidFill>
                  <a:srgbClr val="0F233A"/>
                </a:solidFill>
                <a:latin typeface="Inter"/>
              </a:defRPr>
            </a:pPr>
            <a:r>
              <a:t>Tồn kho kiện</a:t>
            </a:r>
            <a:br/>
            <a:r>
              <a:t>không khớp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906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Kho là con số tổng, không phải vị trí K1.1.</a:t>
            </a:r>
            <a:br/>
            <a:r>
              <a:t>FIFO phụ thuộc trí nhớ, kiểm kê lệch liên tục.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9019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8716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 i="0">
                <a:solidFill>
                  <a:srgbClr val="0F233A"/>
                </a:solidFill>
                <a:latin typeface="Inter"/>
              </a:defRPr>
            </a:pPr>
            <a:r>
              <a:t>Chấm công gian lận</a:t>
            </a:r>
            <a:br/>
            <a:r>
              <a:t>&amp; tốn công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906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Chấm hộ, ghi tay, tổng hợp cuối tháng thủ công.</a:t>
            </a:r>
            <a:br/>
            <a:r>
              <a:t>Quản lý mất giờ đối chiếu.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11091672" cy="38404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924C0E"/>
                </a:solidFill>
                <a:latin typeface="Inter"/>
              </a:defRPr>
            </a:pPr>
            <a:r>
              <a:t>Nếu mẻ chiên không có dữ liệu xuyên suốt, mọi báo cáo sau đó đều thiếu gốc.</a:t>
            </a:r>
          </a:p>
        </p:txBody>
      </p:sp>
      <p:pic>
        <p:nvPicPr>
          <p:cNvPr id="20" name="Picture 19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2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846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Inter"/>
              </a:defRPr>
            </a:pPr>
            <a:r>
              <a:t>Một nền tảng — mọi vận hành được kết nối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Inter"/>
              </a:defRPr>
            </a:pPr>
            <a:r>
              <a:t>Không ghép nhiều phần mềm rời rạc. Một dòng chảy dữ liệu từ báo giá tới thành phẩm và nhân sự.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103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10312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2563EB"/>
                </a:solidFill>
                <a:latin typeface="Inter"/>
              </a:defRPr>
            </a:pPr>
            <a:r>
              <a:t>01 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maChien xuyên 4 bảng</a:t>
            </a:r>
            <a:br/>
            <a:r>
              <a:t>06:30 boundary, 8-grade yield</a:t>
            </a:r>
            <a:br/>
            <a:r>
              <a:t>4-stage drying + MachineSystem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91640"/>
            <a:ext cx="2103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1691640"/>
            <a:ext cx="2103120" cy="54864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810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4B8A6"/>
                </a:solidFill>
                <a:latin typeface="Inter"/>
              </a:defRPr>
            </a:pPr>
            <a:r>
              <a:t>02  Connected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48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QuotationCalculator → Order</a:t>
            </a:r>
            <a:br/>
            <a:r>
              <a:t>→ Warehouse FIFO → Production</a:t>
            </a:r>
            <a:br/>
            <a:r>
              <a:t>→ Quality → Invoice/Payroll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691640"/>
            <a:ext cx="2103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691640"/>
            <a:ext cx="2103120" cy="5486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810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F59E0B"/>
                </a:solidFill>
                <a:latin typeface="Inter"/>
              </a:defRPr>
            </a:pPr>
            <a:r>
              <a:t>03  AI-Assisted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148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RAG hybrid + 72-tool ReAct</a:t>
            </a:r>
            <a:br/>
            <a:r>
              <a:t>agent hiểu department scope</a:t>
            </a:r>
            <a:br/>
            <a:r>
              <a:t>Hỏi tiếng Việt, thao tác thực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91640"/>
            <a:ext cx="2103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1691640"/>
            <a:ext cx="2103120" cy="54864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810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6B6D4"/>
                </a:solidFill>
                <a:latin typeface="Inter"/>
              </a:defRPr>
            </a:pPr>
            <a:r>
              <a:t>04  Physical-Digital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148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Kiosk ArcFace 4-layer liveness</a:t>
            </a:r>
            <a:br/>
            <a:r>
              <a:t>Adaptive gallery + advisory-lock</a:t>
            </a:r>
            <a:br/>
            <a:r>
              <a:t>Khuôn mặt là thẻ chấm công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91640"/>
            <a:ext cx="2103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1691640"/>
            <a:ext cx="2103120" cy="54864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810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334155"/>
                </a:solidFill>
                <a:latin typeface="Inter"/>
              </a:defRPr>
            </a:pPr>
            <a:r>
              <a:t>05  Extensible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14884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Modular monolith, multi-schema</a:t>
            </a:r>
            <a:br/>
            <a:r>
              <a:t>RBAC/ABAC, WS+Web Push</a:t>
            </a:r>
            <a:br/>
            <a:r>
              <a:t>Docker Compose, backup 3 lớp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8172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8 nhóm năng lực  •  Sales &amp; Quotation  •  Supply &amp; Purchase  •  Warehouse (kiện/FIFO)  •  Manufacturing  •  Quality  •  Equipment  •  HR &amp; Payroll  •  AI &amp; Face</a:t>
            </a:r>
          </a:p>
        </p:txBody>
      </p:sp>
      <p:pic>
        <p:nvPicPr>
          <p:cNvPr id="27" name="Picture 26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2000" spd="med">
    <p:push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8463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DÒNG CHẢY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Inter"/>
              </a:defRPr>
            </a:pPr>
            <a:r>
              <a:t>Từ báo giá tới thành phẩm — một dòng chảy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247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  <a:latin typeface="Inter"/>
              </a:defRPr>
            </a:pPr>
            <a:r>
              <a:t>Mỗi nghiệp vụ là một mắt xích — dữ liệu đi tiếp, không nhập lại. Một mã maChien nối suốt.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2563EB"/>
                </a:solidFill>
                <a:latin typeface="Inter"/>
              </a:defRPr>
            </a:pPr>
            <a:r>
              <a:t>SALES &amp;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InternationalCustomer  →  QuotationRequest  →  QuotationCalculator (MaterialStandard + GeneralCost + ExportCost → giá hòa vốn)  →  Quotation (priceLocked)  →  Order (7 SX + 3 TT)  →  TaxReport</a:t>
            </a:r>
            <a:br/>
            <a:r>
              <a:t>SupplyRequest (multi-item)  →  PurchaseRequest (MANUAL/SHORTAGE/REORDER)  →  Supplier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F59E0B"/>
                </a:solidFill>
                <a:latin typeface="Inter"/>
              </a:defRPr>
            </a:pPr>
            <a:r>
              <a:t>WAREHOUSE &amp; PRODUCTION 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Warehouse → Lot (zone CAD) → Slot (K1.1…) → LotProduct (soLuong, giaThanh)  →  BM01 / BM03  (multi-line, FIFO, reorder hook)</a:t>
            </a:r>
            <a:br/>
            <a:r>
              <a:t>MaterialStandard → MaterialEvaluation (maChien, Brix, lotProductId → trừ kho) → SystemOperation (4 giai đoạn, HOAT_DONG guard) → FinishedProduct (8 grades, daNhapKho) → QualityEvaluation → ProductionReport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2191"/>
            <a:ext cx="11091672" cy="5943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679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16A34A"/>
                </a:solidFill>
                <a:latin typeface="Inter"/>
              </a:defRPr>
            </a:pPr>
            <a:r>
              <a:t>NHÂN SỰ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0791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Employee → Attendance (shift provenance, kiosk/face) → Timesheet → Payroll (OT 1.5/2/3) → Evaluation (QUICK/FULL, appeal, peer)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Giá hòa vốn có cơ sở — khóa giá trước khi gửi khách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709160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Kho kiện first-class — FIFO K1.1→K1.n, capacity guard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709160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FFFFFF"/>
                </a:solidFill>
                <a:latin typeface="Inter"/>
              </a:defRPr>
            </a:pPr>
            <a:r>
              <a:t>maChien xuyên 4 bảng — boundary 06:30</a:t>
            </a:r>
          </a:p>
        </p:txBody>
      </p:sp>
      <p:pic>
        <p:nvPicPr>
          <p:cNvPr id="18" name="Picture 17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2000" spd="med">
    <p:wipe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Inter"/>
              </a:defRPr>
            </a:pPr>
            <a:r>
              <a:t>MANUFACTURING  ★  HERO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Inter"/>
              </a:defRPr>
            </a:pPr>
            <a:r>
              <a:t>Mỗi mẻ chiên đều có câu chuyện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Từ Brix ngâm tới 4 giai đoạn sấy — truy vết một mã maChien xuyên suốt</a:t>
            </a:r>
          </a:p>
        </p:txBody>
      </p:sp>
      <p:pic>
        <p:nvPicPr>
          <p:cNvPr id="6" name="Picture 5" descr="mf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83112" cy="1834729"/>
          </a:xfrm>
          <a:prstGeom prst="rect">
            <a:avLst/>
          </a:prstGeom>
        </p:spPr>
      </p:pic>
      <p:pic>
        <p:nvPicPr>
          <p:cNvPr id="7" name="Picture 6" descr="mock-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5394960" cy="2981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64608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▲  Mock UI — Đánh giá nguyên liệu (Brix, nhiệt độ, lot)  •  thay bằng screenshot thực khi có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788920"/>
            <a:ext cx="18288" cy="2240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7889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3 ĐIỂM CHỨNG MINH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090672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✓  Trừ kho gắn mẻ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28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Trừ LotProduct cụ thể qua lotProductId trong transaction — biết chính xác kiện nào cho mẻ nào.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749040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1304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✓  4 giai đoạn có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867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Chỉ vận hành khi MachineSystem ở HOAT_DONG — không sấy trên máy đang bảo trì/hỏng.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407408"/>
            <a:ext cx="5120640" cy="548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47141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✓  Ngày sản xuất 06:30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451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Production day boundary 06:30 theo ca thực tế — báo cáo khớp ca xưởng.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5285232"/>
            <a:ext cx="5120640" cy="38404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3766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924C0E"/>
                </a:solidFill>
                <a:latin typeface="Inter"/>
              </a:defRPr>
            </a:pPr>
            <a:r>
              <a:t>Không có mẻ nào là “không rõ nguồn gốc”.</a:t>
            </a:r>
          </a:p>
        </p:txBody>
      </p:sp>
      <p:pic>
        <p:nvPicPr>
          <p:cNvPr id="22" name="Picture 21" descr="abf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5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Inter"/>
              </a:defRPr>
            </a:pPr>
            <a:r>
              <a:t>MANUFACTURING  ★  HERO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0F233A"/>
                </a:solidFill>
                <a:latin typeface="Inter"/>
              </a:defRPr>
            </a:pPr>
            <a:r>
              <a:t>8-grade yield — hiểu rõ từng phần của thành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Không chỉ “bao nhiêu kg” — mà là A/B/B-Dầu/C/Vụn/Phế/Ướt, với tỉ lệ tự động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89888"/>
            <a:ext cx="1118311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10881360" cy="28640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611880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FFFFFF"/>
                </a:solidFill>
                <a:latin typeface="Inter"/>
              </a:defRPr>
            </a:pPr>
            <a:r>
              <a:t>Tỉ lệ tự động — tiLe = grade / tổng mẻ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611880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Nhập kho bulk idempotent — daNhapKho 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611880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Báo cáo KH/TT theo grade — biết ngay lệch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A: loại 1 đẹp nhất (giá cao nhất)  •  B-Dầu: đặc thù chiên chân không  •  Vụn: tận dụng / bán vụn  •  Phế: loại bỏ  •  Ướt: cần sấy lại  •  tiLe tính tự động</a:t>
            </a:r>
          </a:p>
        </p:txBody>
      </p:sp>
      <p:pic>
        <p:nvPicPr>
          <p:cNvPr id="12" name="Picture 11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3000" spd="med">
    <p:push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4B8A6"/>
                </a:solidFill>
                <a:latin typeface="Inter"/>
              </a:defRPr>
            </a:pPr>
            <a:r>
              <a:t>SUPPLY &amp;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Inter"/>
              </a:defRPr>
            </a:pPr>
            <a:r>
              <a:t>Kiện là first-class — tồn kho không còn là con số mơ hồ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Mỗi kiện có vị trí K1.1, có FIFO, có capacity guard — không phải ô tổng hợp</a:t>
            </a:r>
          </a:p>
        </p:txBody>
      </p:sp>
      <p:pic>
        <p:nvPicPr>
          <p:cNvPr id="6" name="Picture 5" descr="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83112" cy="1310521"/>
          </a:xfrm>
          <a:prstGeom prst="rect">
            <a:avLst/>
          </a:prstGeom>
        </p:spPr>
      </p:pic>
      <p:pic>
        <p:nvPicPr>
          <p:cNvPr id="7" name="Picture 6" descr="mock-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5577840" cy="30824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736592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▲  Mock UI — Kho kiện Lot/Slot/LotProduct  •  thay bằng screenshot thực khi có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06040"/>
            <a:ext cx="18288" cy="2130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606040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6974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FIFO thực tế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98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Xuất K1.1 trước, đúng nhập trước xuất trước — giảm tồn đọng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355848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47288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Capacity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484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Slot có giới hạn, hệ thống chặn khi vượt — không vượt tải kệ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105656"/>
            <a:ext cx="5029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19709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BM01/BM03 + reorder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3982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Multi-line transaction, tự gợi ý đặt lại khi tồn thấp</a:t>
            </a:r>
          </a:p>
        </p:txBody>
      </p:sp>
      <p:pic>
        <p:nvPicPr>
          <p:cNvPr id="19" name="Picture 18" descr="abf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2000" spd="med">
    <p:wipe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64748B"/>
                </a:solidFill>
                <a:latin typeface="Inter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Inter"/>
              </a:defRPr>
            </a:pPr>
            <a:r>
              <a:t>Bảo trì không còn là phản ứng — là kế hoạch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Từ hệ thống máy tới kế hoạch năm, tới fault KB và phụ tùng</a:t>
            </a:r>
          </a:p>
        </p:txBody>
      </p:sp>
      <p:pic>
        <p:nvPicPr>
          <p:cNvPr id="6" name="Picture 5" descr="mock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4752"/>
            <a:ext cx="5669280" cy="3133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6616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▲  Mock UI — MachineSystem &amp; MaintenancePlan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444752"/>
            <a:ext cx="18288" cy="21214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444752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72768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MachineSystem  (HOAT_DONG / BAO_TRI / HONG)</a:t>
            </a:r>
            <a:br/>
            <a:r>
              <a:t>→  MaintenancePlan  (kế hoạch năm, template-driven)</a:t>
            </a:r>
            <a:br/>
            <a:r>
              <a:t>→  FaultRecord  (ghi lỗi, tra KB)  →  SparePart  (phụ tùng)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697480"/>
            <a:ext cx="15727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278892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F233A"/>
                </a:solidFill>
                <a:latin typeface="Inter"/>
              </a:defRPr>
            </a:pPr>
            <a:r>
              <a:t>Template-driven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303580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Kế hoạch lặp theo năm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697480"/>
            <a:ext cx="15727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78892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F233A"/>
                </a:solidFill>
                <a:latin typeface="Inter"/>
              </a:defRPr>
            </a:pPr>
            <a:r>
              <a:t>Fault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03580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Tra KB tích lũy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697480"/>
            <a:ext cx="15727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278892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F233A"/>
                </a:solidFill>
                <a:latin typeface="Inter"/>
              </a:defRPr>
            </a:pPr>
            <a:r>
              <a:t>Gắn phụ tùng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2408" y="303580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Biết đã thay gì</a:t>
            </a:r>
          </a:p>
        </p:txBody>
      </p:sp>
      <p:pic>
        <p:nvPicPr>
          <p:cNvPr id="20" name="Picture 19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9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6A34A"/>
                </a:solidFill>
                <a:latin typeface="Inter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0F233A"/>
                </a:solidFill>
                <a:latin typeface="Inter"/>
              </a:defRPr>
            </a:pPr>
            <a:r>
              <a:t>Chất lượng được ghi nhận theo mẻ — không phải cảm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Màu, mùi, vị, độ giòn — mỗi chỉ tiêu có người ghi, có mẻ gắn, có lịch sử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44752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Auto-fill tỉ lệ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QualityEvaluation lấy tiLe tự động từ FinishedProduct — không nhập lại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44752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5727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9339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Đánh giá đa chiều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6771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Màu/mùi/vị/độ giòn, thang điểm chuẩn, có người ký &amp; thời gian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44752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5727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9339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Truy nguyên về mẻ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67712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Mọi phiếu QC gắn maChien — lần ngược về mẻ chiên trong phút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63240"/>
            <a:ext cx="11091672" cy="438912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821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16A34A"/>
                </a:solidFill>
                <a:latin typeface="Inter"/>
              </a:defRPr>
            </a:pPr>
            <a:r>
              <a:t>Chất lượng không phải lời nói — là phiếu QC gắn mẻ, có điểm số, có người ký, truy nguyên được.</a:t>
            </a:r>
          </a:p>
        </p:txBody>
      </p:sp>
      <p:pic>
        <p:nvPicPr>
          <p:cNvPr id="20" name="Picture 19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8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Inter"/>
              </a:defRPr>
            </a:pPr>
            <a:r>
              <a:t>AI hiểu ngữ cảnh xưởng — không phải chatbot chung chung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Hỏi bằng tiếng Việt tự nhiên — trả lời bằng quy trình thực, thao tác thực</a:t>
            </a:r>
          </a:p>
        </p:txBody>
      </p:sp>
      <p:pic>
        <p:nvPicPr>
          <p:cNvPr id="6" name="Picture 5" descr="ai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2811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2331720"/>
            <a:ext cx="11091672" cy="34747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0F233A"/>
                </a:solidFill>
                <a:latin typeface="Inter"/>
              </a:defRPr>
            </a:pPr>
            <a:r>
              <a:t>+ ReAct Agent  •  72 tools  •  department RBAC  •  max 5 iterations  —  thao tác thực tế qua ERP API  •  write cần user confirm</a:t>
            </a:r>
          </a:p>
        </p:txBody>
      </p:sp>
      <p:pic>
        <p:nvPicPr>
          <p:cNvPr id="9" name="Picture 8" descr="mock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5486400" cy="30319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1947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▲  Mock UI — ChatWidget (tiếng Việt, grounded + sources, agent confirm)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834640"/>
            <a:ext cx="18288" cy="208483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83464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0779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Hybrid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Dense + Sparse → RRF k=60 → FlashRank</a:t>
            </a:r>
            <a:br/>
            <a:r>
              <a:t>Không chỉ vector search đơn thuần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584448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Grounded + Faithfulness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587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Chỉ trả lời từ CONTEXT</a:t>
            </a:r>
            <a:br/>
            <a:r>
              <a:t>LLM-as-judge giảm hallucination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334256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40740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72-tool agent +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0857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Department RBAC, max 5 iter</a:t>
            </a:r>
            <a:br/>
            <a:r>
              <a:t>Write cần confirm</a:t>
            </a:r>
          </a:p>
        </p:txBody>
      </p:sp>
      <p:pic>
        <p:nvPicPr>
          <p:cNvPr id="21" name="Picture 20" descr="abf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4000" spd="med">
    <p:push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548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2976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6B6D4"/>
                </a:solidFill>
                <a:latin typeface="Inter"/>
              </a:defRPr>
            </a:pPr>
            <a:r>
              <a:t>FACE KIOSK  •  PHYSICAL-DIGITAL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Inter"/>
              </a:defRPr>
            </a:pPr>
            <a:r>
              <a:t>Khuôn mặt là thẻ chấm công — 4 lớp chống giả mạo, học dần theo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Một tablet tại xưởng — không cần thẻ, không chấm hộ, không gian lận</a:t>
            </a:r>
          </a:p>
        </p:txBody>
      </p:sp>
      <p:pic>
        <p:nvPicPr>
          <p:cNvPr id="6" name="Picture 5" descr="fac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11274552" cy="18497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273552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FFFFFF"/>
                </a:solidFill>
                <a:latin typeface="Inter"/>
              </a:defRPr>
            </a:pPr>
            <a:r>
              <a:t>Advisory lock — không duplicate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273552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Adaptive gallery — càng dùng càng chính xác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73552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Một tablet cho 100–300 CN — chi phí thấp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1091672" cy="438912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22191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650" b="1" i="0">
                <a:solidFill>
                  <a:srgbClr val="0F233A"/>
                </a:solidFill>
                <a:latin typeface="Inter"/>
              </a:defRPr>
            </a:pPr>
            <a:r>
              <a:t>RetinaFace / Yunet Detection  →  ArcFace Embedding (512D)  →  4-Layer Liveness  →  Voting Match  →  Attendance (advisory lock + dual cooldown)  →  Payroll / Timesheet  →  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15968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Kiosk giá rẻ cho 100–300 CN  •  chưa PAD ISO 30107, không depth/IR  •  không claim FaceID phone-level — trung thực là điểm mạnh</a:t>
            </a:r>
          </a:p>
        </p:txBody>
      </p:sp>
      <p:pic>
        <p:nvPicPr>
          <p:cNvPr id="13" name="Picture 12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3000" spd="med">
    <p:wipe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TECHNOLOGY  •  5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0F233A"/>
                </a:solidFill>
                <a:latin typeface="Inter"/>
              </a:defRPr>
            </a:pPr>
            <a:r>
              <a:t>Không phải danh sách logo — là 5 layers có chủ ý</a:t>
            </a:r>
          </a:p>
        </p:txBody>
      </p:sp>
      <p:pic>
        <p:nvPicPr>
          <p:cNvPr id="5" name="Picture 4" descr="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6400800" cy="22196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207008"/>
            <a:ext cx="4572000" cy="374903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135331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TẠI SAO 5 LAYERS NÀY?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664208"/>
            <a:ext cx="4206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• Experience tách khỏi Application — SPA 46 pages độc lập</a:t>
            </a:r>
            <a:br/>
            <a:r>
              <a:t>• Data 3 schemas CUID + transaction + advisory locks</a:t>
            </a:r>
            <a:br/>
            <a:r>
              <a:t>• Intelligence tách riêng FastAPI — không lẫn business logic</a:t>
            </a:r>
            <a:br/>
            <a:r>
              <a:t>• Infrastructure Docker Compose + Nginx — single-VPS production</a:t>
            </a:r>
            <a:br/>
            <a:r>
              <a:t>• Mỗi layer một vai trò rõ — không thừa, không thiếu</a:t>
            </a:r>
          </a:p>
        </p:txBody>
      </p:sp>
      <p:pic>
        <p:nvPicPr>
          <p:cNvPr id="9" name="Picture 8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9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ARCHITECTURE  •  MODULAR MONOLITH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F233A"/>
                </a:solidFill>
                <a:latin typeface="Inter"/>
              </a:defRPr>
            </a:pPr>
            <a:r>
              <a:t>Modular monolith — đơn giản để deploy, đủ sâu để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Một Express app, 82 slices — deploy một lần, mở rộng từng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11091672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6459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572768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09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Nginx  TLS 1.2/1.3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6459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4A3B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29968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66543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650" b="1" i="0">
                <a:solidFill>
                  <a:srgbClr val="0F233A"/>
                </a:solidFill>
                <a:latin typeface="Inter"/>
              </a:defRPr>
            </a:pPr>
            <a:r>
              <a:t>Frontend</a:t>
            </a:r>
            <a:br/>
            <a:r>
              <a:t>React SPA  :5173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029968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066543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650" b="1" i="0">
                <a:solidFill>
                  <a:srgbClr val="FFFFFF"/>
                </a:solidFill>
                <a:latin typeface="Inter"/>
              </a:defRPr>
            </a:pPr>
            <a:r>
              <a:t>Backend  Express 5  :5000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029968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066543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650" b="1" i="0">
                <a:solidFill>
                  <a:srgbClr val="FFFFFF"/>
                </a:solidFill>
                <a:latin typeface="Inter"/>
              </a:defRPr>
            </a:pPr>
            <a:r>
              <a:t>PostgreSQL 16</a:t>
            </a:r>
            <a:br/>
            <a:r>
              <a:t>3 schemas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029968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6654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650" b="1" i="0">
                <a:solidFill>
                  <a:srgbClr val="FFFFFF"/>
                </a:solidFill>
                <a:latin typeface="Inter"/>
              </a:defRPr>
            </a:pPr>
            <a:r>
              <a:t>Redis 7</a:t>
            </a:r>
            <a:br/>
            <a:r>
              <a:t>cache + RL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029968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06654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  <a:defRPr sz="650" b="1" i="0">
                <a:solidFill>
                  <a:srgbClr val="FFFFFF"/>
                </a:solidFill>
                <a:latin typeface="Inter"/>
              </a:defRPr>
            </a:pPr>
            <a:r>
              <a:t>AI Service  FastAPI :8001</a:t>
            </a:r>
            <a:br/>
            <a:r>
              <a:t>ChromaDB + DeepSeek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542032"/>
            <a:ext cx="237744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59689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334155"/>
                </a:solidFill>
                <a:latin typeface="Inter"/>
              </a:defRPr>
            </a:pPr>
            <a:r>
              <a:t>WebSocket  ws + Postgres NOTIFY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542032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5968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334155"/>
                </a:solidFill>
                <a:latin typeface="Inter"/>
              </a:defRPr>
            </a:pPr>
            <a:r>
              <a:t>Web Push  VAPID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6334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cross-instance ready  •  advisory lock cho cron  •  sẵn sàng scale horizontal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3756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2900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82 routes qua ROUTE_MAP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7033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Đăng ký tập trung tại routes/index.ts</a:t>
            </a:r>
            <a:br/>
            <a:r>
              <a:t>Không route nào silently ignored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33756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42900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Multi-schema Prisma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7033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auth / business / common, CUID</a:t>
            </a:r>
            <a:br/>
            <a:r>
              <a:t>Child tables không JSON columns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337560"/>
            <a:ext cx="35204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42900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F233A"/>
                </a:solidFill>
                <a:latin typeface="Inter"/>
              </a:defRPr>
            </a:pPr>
            <a:r>
              <a:t>Cross-instance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7033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Postgres NOTIFY cho WS</a:t>
            </a:r>
            <a:br/>
            <a:r>
              <a:t>Advisory lock cho cron — sẵn sàng scale</a:t>
            </a:r>
          </a:p>
        </p:txBody>
      </p:sp>
      <p:pic>
        <p:nvPicPr>
          <p:cNvPr id="37" name="Picture 36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9000" spd="med">
    <p:push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6A34A"/>
                </a:solidFill>
                <a:latin typeface="Inter"/>
              </a:defRPr>
            </a:pPr>
            <a:r>
              <a:t>SECURITY  •  THỰC TẾ, KHÔNG KHẨU 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F233A"/>
                </a:solidFill>
                <a:latin typeface="Inter"/>
              </a:defRPr>
            </a:pPr>
            <a:r>
              <a:t>Bảo vệ từ JWT tới kiện hàng — thực tế, không khẩu 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Những gì đã có — và những gì chúng tôi không claim. Trung thực là cách tạo tin cậy.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5440680" cy="292608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6A34A"/>
                </a:solidFill>
                <a:latin typeface="Inter"/>
              </a:defRPr>
            </a:pPr>
            <a:r>
              <a:t>ĐÃ CÓ  (evidence)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89888"/>
            <a:ext cx="5440680" cy="29260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44752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59E0B"/>
                </a:solidFill>
                <a:latin typeface="Inter"/>
              </a:defRPr>
            </a:pPr>
            <a:r>
              <a:t>CHƯA CLAIM  (roadmap)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73936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773936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6537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JWT access + refresh, role hierarchy ADMIN &gt; HEAD &gt; LEAD &gt; EMP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6712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RBAC/ABAC — secondary departments, 3 middlewares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Redis RL spoof-proof (IP + user)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7063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Helmet, CORS, Zod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72384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AES-GCM encrypt face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7413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Audit log: face / evaluation /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75887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334155"/>
                </a:solidFill>
                <a:latin typeface="Inter"/>
              </a:defRPr>
            </a:pPr>
            <a:r>
              <a:t>✓  Advisory locks (attendance, face, cron)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86537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2FA / MFA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6712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WAF, vault secrets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46888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Pentest / SOC2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77063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mTLS / zero-trust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072384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Backup offsite encrypted (hiện local /backup)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37413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Audit toàn diện mọi 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75887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○  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70832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FFFFFF"/>
                </a:solidFill>
                <a:latin typeface="Inter"/>
              </a:defRPr>
            </a:pPr>
            <a:r>
              <a:t>RBAC/ABAC thực tế — secondary departments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370832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RL không spoof được — không tin X-Forwarded-For mù quáng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370832"/>
            <a:ext cx="352044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1">
                <a:solidFill>
                  <a:srgbClr val="334155"/>
                </a:solidFill>
                <a:latin typeface="Inter"/>
              </a:defRPr>
            </a:pPr>
            <a:r>
              <a:t>Face embeddings mã hóa — AES-GCM, không plaintext</a:t>
            </a:r>
          </a:p>
        </p:txBody>
      </p:sp>
      <p:pic>
        <p:nvPicPr>
          <p:cNvPr id="29" name="Picture 28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0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ROADMAP  •  5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Inter"/>
              </a:defRPr>
            </a:pPr>
            <a:r>
              <a:t>Từ Integrated ERP → Smart Factory — lộ trình có cơ sở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Mỗi phase xây trên nền đã production-hardened — không hứa viễn vông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121408" cy="2697480"/>
          </a:xfrm>
          <a:prstGeom prst="roundRect">
            <a:avLst>
              <a:gd name="adj" fmla="val 8000"/>
            </a:avLst>
          </a:prstGeom>
          <a:solidFill>
            <a:srgbClr val="DB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2121408" cy="54864"/>
          </a:xfrm>
          <a:prstGeom prst="roundRect">
            <a:avLst>
              <a:gd name="adj" fmla="val 8000"/>
            </a:avLst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0F233A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62763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0F233A"/>
                </a:solidFill>
                <a:latin typeface="Inter"/>
              </a:defRPr>
            </a:pPr>
            <a:r>
              <a:t>✅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83664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Integrated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67712"/>
            <a:ext cx="19019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82 routes, 60+ entities, kiện/FIFO, maChien, HR/payroll, backup 3 lớp, 6-phase playbook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481328"/>
            <a:ext cx="2121408" cy="26974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1481328"/>
            <a:ext cx="2121408" cy="5486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627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F59E0B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62763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F59E0B"/>
                </a:solidFill>
                <a:latin typeface="Inter"/>
              </a:defRPr>
            </a:pPr>
            <a:r>
              <a:t>🔄 Đang hoàn thiện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1883664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AI-Assisted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267712"/>
            <a:ext cx="19019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RAG ≥100 QAs RAGAS, streaming faithfulness, fallback, p95 dashboards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481328"/>
            <a:ext cx="2121408" cy="2697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481328"/>
            <a:ext cx="2121408" cy="54864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627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14B8A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162763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14B8A6"/>
                </a:solidFill>
                <a:latin typeface="Inter"/>
              </a:defRPr>
            </a:pPr>
            <a:r>
              <a:t>📋 Kế tiếp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1883664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Data-Driven Factory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267712"/>
            <a:ext cx="19019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Dashboard yield/Brix/OT, FAR/FRR face, audit toàn diện, S3 encrypted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481328"/>
            <a:ext cx="2121408" cy="269748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481328"/>
            <a:ext cx="2121408" cy="54864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1627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06B6D4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162763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06B6D4"/>
                </a:solidFill>
                <a:latin typeface="Inter"/>
              </a:defRPr>
            </a:pPr>
            <a:r>
              <a:t>🔮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883664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Smart Factory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2267712"/>
            <a:ext cx="19019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Multi-site, IoT telemetry, predictive maintenance (ML), mobile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481328"/>
            <a:ext cx="2121408" cy="2697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481328"/>
            <a:ext cx="2121408" cy="54864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16276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94A3B8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162763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94A3B8"/>
                </a:solidFill>
                <a:latin typeface="Inter"/>
              </a:defRPr>
            </a:pPr>
            <a:r>
              <a:t>🔮 Tầm nhìn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883664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Enterprise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2267712"/>
            <a:ext cx="19019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Multi-company, marketplace, supply chain tài chính, API ecosystem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498848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Inter"/>
              </a:defRPr>
            </a:pPr>
            <a:r>
              <a:t>Hiện tại: single-VPS, single-site, single-company — đủ cho 1 nhà máy 100–300 CN  •  Multi-site / IoT là roadmap</a:t>
            </a:r>
          </a:p>
        </p:txBody>
      </p:sp>
      <p:pic>
        <p:nvPicPr>
          <p:cNvPr id="37" name="Picture 36" descr="ab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0000" spd="med">
    <p:push dir="l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Inter"/>
              </a:defRPr>
            </a:pPr>
            <a:r>
              <a:t>GẶP CHÚNG TÔI TẠI GIAN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Inter"/>
              </a:defRPr>
            </a:pPr>
            <a:r>
              <a:t>Xem kiosk và mẻ chiên trực tiếp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3C5FD"/>
                </a:solidFill>
                <a:latin typeface="Inter"/>
              </a:defRPr>
            </a:pPr>
            <a:r>
              <a:t>Đừng chỉ đọc catalog — hãy chạm vào hệ thống đang chạy.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01952"/>
            <a:ext cx="2148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Gặp trực tiếp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18745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Gian hàng [số]</a:t>
            </a:r>
            <a:br/>
            <a:r>
              <a:t>[Tên triển lãm] — [Ngày]</a:t>
            </a:r>
            <a:br/>
            <a:r>
              <a:t>Đội ngũ An Bình Foods + kỹ thuật</a:t>
            </a:r>
            <a:br/>
            <a:r>
              <a:t>có mặt cả ngày.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01952"/>
            <a:ext cx="2148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2029968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9572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0048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FFFFFF"/>
                </a:solidFill>
                <a:latin typeface="Inter"/>
              </a:defRPr>
            </a:pPr>
            <a:r>
              <a:t>[URL demo]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493008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F233A"/>
                </a:solidFill>
                <a:latin typeface="Inter"/>
              </a:defRPr>
            </a:pPr>
            <a:r>
              <a:t>Quét để xem thêm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49039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650" b="0" i="0">
                <a:solidFill>
                  <a:srgbClr val="64748B"/>
                </a:solidFill>
                <a:latin typeface="Inter"/>
              </a:defRPr>
            </a:pPr>
            <a:r>
              <a:t>Quét để xem demo</a:t>
            </a:r>
            <a:br/>
            <a:r>
              <a:t>[URL demo / landing]</a:t>
            </a:r>
            <a:br/>
            <a:r>
              <a:t>5 screenshots teaser:</a:t>
            </a:r>
            <a:br/>
            <a:r>
              <a:t>M.Evaluation  •  8 grades</a:t>
            </a:r>
            <a:br/>
            <a:r>
              <a:t>Warehouse kiện  •  ChatWidget</a:t>
            </a:r>
            <a:br/>
            <a:r>
              <a:t>Dashboard1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901952"/>
            <a:ext cx="2148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084831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Inter"/>
              </a:defRPr>
            </a:pPr>
            <a:r>
              <a:t>Liên hệ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395728"/>
            <a:ext cx="18745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[Email]  •  [Hotline]</a:t>
            </a:r>
            <a:br/>
            <a:r>
              <a:t>[Website]</a:t>
            </a:r>
            <a:br/>
            <a:r>
              <a:t>Đặt lịch demo riêng —</a:t>
            </a:r>
            <a:br/>
            <a:r>
              <a:t>chúng tôi tới nhà máy khảo sát</a:t>
            </a:r>
            <a:br/>
            <a:r>
              <a:t>quy trình sấy.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56048"/>
            <a:ext cx="11091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3C5FD"/>
                </a:solidFill>
                <a:latin typeface="Inter"/>
              </a:defRPr>
            </a:pPr>
            <a:r>
              <a:t>Mỗi mẻ chiên đều có dữ liệu  •  Mỗi kiện đều có vị trí  •  Mỗi công nhân đều có khuôn mặt làm thẻ  •  AI hiểu xưởng của bạn</a:t>
            </a:r>
          </a:p>
        </p:txBody>
      </p:sp>
      <p:pic>
        <p:nvPicPr>
          <p:cNvPr id="19" name="Picture 18" descr="moc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303520"/>
            <a:ext cx="8869680" cy="868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645920" y="5303520"/>
            <a:ext cx="8869680" cy="86868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advOnClk="0" advTm="10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47472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846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Inter"/>
              </a:defRPr>
            </a:pPr>
            <a:r>
              <a:t>Q&amp;A  •  DEMO TRỰC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F233A"/>
                </a:solidFill>
                <a:latin typeface="Inter"/>
              </a:defRPr>
            </a:pPr>
            <a:r>
              <a:t>Hỏi &amp; Đáp — Demo trực tiếp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3 câu hỏi gợi ý để phá băng — sau đó demo kiosk + ChatWidget +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6858000" cy="4389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8249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01  “Brix và 8-grade yield được tính thế nào trong hệ thống?”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39696"/>
            <a:ext cx="6858000" cy="4389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02  “Kiosk face hoạt động ở xưởng bụi / ánh sáng kém ra sao?”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06624"/>
            <a:ext cx="6858000" cy="4389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1635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03  “Triển khai cho nhà máy 200 người mất bao lâu?”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72768"/>
            <a:ext cx="3794760" cy="1700784"/>
          </a:xfrm>
          <a:prstGeom prst="roundRect">
            <a:avLst>
              <a:gd name="adj" fmla="val 8000"/>
            </a:avLst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190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59E0B"/>
                </a:solidFill>
                <a:latin typeface="Inter"/>
              </a:defRPr>
            </a:pPr>
            <a:r>
              <a:t>DEMO TRỰC TIẾP  •  5 PHÚT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29968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700" b="0" i="0">
                <a:solidFill>
                  <a:srgbClr val="93C5FD"/>
                </a:solidFill>
                <a:latin typeface="Inter"/>
              </a:defRPr>
            </a:pPr>
            <a:r>
              <a:t>①  Kiosk — chấm công trực tiếp (2’)</a:t>
            </a:r>
            <a:br/>
            <a:r>
              <a:t>②  ChatWidget — hỏi YCBG tiếng Việt (2’)</a:t>
            </a:r>
            <a:br/>
            <a:r>
              <a:t>③  Dashboard mẻ chiên 8-grade (1’)</a:t>
            </a:r>
          </a:p>
        </p:txBody>
      </p:sp>
      <p:pic>
        <p:nvPicPr>
          <p:cNvPr id="15" name="Picture 14" descr="moc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93008"/>
            <a:ext cx="11064240" cy="10972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3493008"/>
            <a:ext cx="11064240" cy="109728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64608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563EB"/>
                </a:solidFill>
                <a:latin typeface="Inter"/>
              </a:defRPr>
            </a:pPr>
            <a:r>
              <a:t>Mời anh/chị qua gian hàng ngay sau phần này — 2 phút là thấy hệ thống chạy thực tế.</a:t>
            </a:r>
          </a:p>
        </p:txBody>
      </p:sp>
      <p:pic>
        <p:nvPicPr>
          <p:cNvPr id="18" name="Picture 17" descr="a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488168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6510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4A3B8"/>
                </a:solidFill>
                <a:latin typeface="Inter"/>
              </a:defRPr>
            </a:pPr>
            <a:r>
              <a:t>ERP An Binh Foods  •  Intelligent Manufacturing Platform</a:t>
            </a:r>
          </a:p>
        </p:txBody>
      </p:sp>
    </p:spTree>
  </p:cSld>
  <p:transition advOnClk="0" advTm="12000" spd="med">
    <p:fade thruBlk="1"/>
  </p:transition>
  <p:clrMapOvr>
    <a:masterClrMapping/>
  </p:clrMapOvr>
  <p:timing>
    <p:tnLst>
      <p:par>
        <p:cTn id="1" dur="indefinite" restart="never" nodeType="tmrPar">
          <p:childTnLst/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